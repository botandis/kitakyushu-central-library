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25 s)</a:t>
            </a:r>
          </a:p>
          <a:p/>
          <a:p>
            <a:r>
              <a:t>Die Kitakyushu Central Library ist ein öffentlicher Kulturbau von Arata Isozaki auf Kyūshū. Ich untersuche die Verbindung von Gebäudeform, innerer Organisation und Herstellung. Grundlage sind originale Zeichnungen, die zeitgenössische BCS-Dokumentation, Angaben des ausführenden Bauunternehmens und historische sowie heutige Aufnahmen. Die Präsentation folgt diesen Dokumenten vom Bauprozess bis zum Innenraum.</a:t>
            </a:r>
          </a:p>
          <a:p/>
          <a:p>
            <a:r>
              <a:t>Quellen: [Büro 1; BCS 5] · P10: CC BY 4.0</a:t>
            </a:r>
          </a:p>
          <a:p/>
          <a:p>
            <a:r>
              <a:t>Bildnachweise:</a:t>
            </a:r>
          </a:p>
          <a:p>
            <a:r>
              <a:t>P10: 八幡鏡太郎 · 2016-08-15 12:31:34</a:t>
            </a:r>
          </a:p>
          <a:p>
            <a:r>
              <a:t>Quelle / Original · CC BY 4.0 https://commons.wikimedia.org/wiki/File:Kitakyusyu_Central_Library.jpg | https://creativecommons.org/licenses/by/4.0</a:t>
            </a:r>
          </a:p>
          <a:p>
            <a:r>
              <a:t>D02: Arata Isozaki Atelier · BCS 1976, Druckseite 24</a:t>
            </a:r>
          </a:p>
          <a:p>
            <a:r>
              <a:t>Quelle / Original https://www.nikkenren.com/kenchiku/pdf/203/0203.pdf</a:t>
            </a:r>
          </a:p>
          <a:p>
            <a:r>
              <a:t>D03: Arata Isozaki Atelier · BCS 1976, Druckseite 24</a:t>
            </a:r>
          </a:p>
          <a:p>
            <a:r>
              <a:t>Quelle / Original https://www.nikkenren.com/kenchiku/pdf/203/0203.pdf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45 s)</a:t>
            </a:r>
          </a:p>
          <a:p/>
          <a:p>
            <a:r>
              <a:t>Die Quellen führen nicht durchgehend dasselbe Fertigstellungsjahr. Das Werkverzeichnis des Büros nennt den Projektzeitraum 1973 bis 1974. Die zeitgenössische BCS-Projektseite nennt dagegen ausdrücklich März 1975 als Fertigstellung. Ich lasse diese Differenz sichtbar, statt sie in eine scheinbar eindeutige Jahreszahl aufzulösen. 1976 erhielt das Gebäude den 17. BCS-Preis. Die historischen Bilder sind in der damaligen Publikation belegt. Sie zeigen den fertigen Bau und sind keine Aufnahmen der Baustelle. Die Jury würdigte besonders die anspruchsvolle Herstellung der vorgefertigten Gewölbeelemente.</a:t>
            </a:r>
          </a:p>
          <a:p/>
          <a:p>
            <a:r>
              <a:t>Quellen: [Büro 1; BCS 5; Okumura 6]</a:t>
            </a:r>
          </a:p>
          <a:p/>
          <a:p>
            <a:r>
              <a:t>Bildnachweise:</a:t>
            </a:r>
          </a:p>
          <a:p>
            <a:r>
              <a:t>A01: Projektarchiv Okumura · Motiv auch in BCS 1976</a:t>
            </a:r>
          </a:p>
          <a:p>
            <a:r>
              <a:t>Quelle / Original https://www.okumuragumi.co.jp/works/1975_kitakyu-library.html</a:t>
            </a:r>
          </a:p>
          <a:p>
            <a:r>
              <a:t>A03: Projektarchiv Okumura · Motiv auch in BCS 1976</a:t>
            </a:r>
          </a:p>
          <a:p>
            <a:r>
              <a:t>Quelle / Original https://www.okumuragumi.co.jp/works/1975_kitakyu-library.html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40 s)</a:t>
            </a:r>
          </a:p>
          <a:p/>
          <a:p>
            <a:r>
              <a:t>Arata Isozaki wurde 1931 in Ōita auf Kyūshū geboren. Nach seinem Architekturstudium an der Universität Tokio arbeitete er im Umfeld von Kenzō Tange und gründete 1963 sein eigenes Büro. Die Bibliothek in Ōita und das Museum of Modern Art in Gunma gehören zu seinen frühen öffentlichen Bauten. Kitakyushu entsteht in derselben produktiven Phase. Für die Betrachtung des Gebäudes ist damit sowohl seine öffentliche Aufgabe als auch die Entwicklung einer eigenständigen räumlichen Figur wichtig. 2019 wurde Isozaki mit dem Pritzker-Preis ausgezeichnet.</a:t>
            </a:r>
          </a:p>
          <a:p/>
          <a:p>
            <a:r>
              <a:t>Quellen: [Büro 2–4; Pritzker 9] · U02: Nutzerdatei</a:t>
            </a:r>
          </a:p>
          <a:p/>
          <a:p>
            <a:r>
              <a:t>Bildnachweise:</a:t>
            </a:r>
          </a:p>
          <a:p>
            <a:r>
              <a:t>U02: Vom Nutzer bereitgestellt · Originalurheber / Lizenz ungeklärt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40 s)</a:t>
            </a:r>
          </a:p>
          <a:p/>
          <a:p>
            <a:r>
              <a:t>Die Bibliothek liegt im Bereich von Katsuyama Park und Kokura Castle, zwischen Verwaltungs- und Kulturgebäuden. Die BCS-Jury beschreibt zwei Aufgaben für den Entwurf. Das Gebäude sollte die Stadtsilhouette nicht verstellen und zugleich ein erkennbares Zeichen für die städtischen Kultureinrichtungen bilden. Die Jury sieht beides im niedrigen Baukörper und seiner prägnanten Form erfüllt. Der Lageplan zeigt die Verbindung von Baufigur und Freiraum. Die heutige Außenaufnahme ergänzt die Zeichnung um den Blick vom städtischen Vorbereich auf das Gebäude.</a:t>
            </a:r>
          </a:p>
          <a:p/>
          <a:p>
            <a:r>
              <a:t>Quellen: [BCS 5; Stadt 8] · D01 / U03</a:t>
            </a:r>
          </a:p>
          <a:p/>
          <a:p>
            <a:r>
              <a:t>Bildnachweise:</a:t>
            </a:r>
          </a:p>
          <a:p>
            <a:r>
              <a:t>D01: Arata Isozaki Atelier · BCS 1976, Druckseite 24</a:t>
            </a:r>
          </a:p>
          <a:p>
            <a:r>
              <a:t>Quelle / Original https://www.nikkenren.com/kenchiku/pdf/203/0203.pdf</a:t>
            </a:r>
          </a:p>
          <a:p>
            <a:r>
              <a:t>U03: Vom Nutzer bereitgestellt · Originalurheber / Lizenz ungeklärt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45 s)</a:t>
            </a:r>
          </a:p>
          <a:p/>
          <a:p>
            <a:r>
              <a:t>Die BCS-Beschreibung nennt zwei ungefähr elf Meter breite, J-förmige Gebäudebänder. An einem Ende liegen sie nebeneinander, während eines rechtwinklig vom anderen abbiegt. Diese Beschreibung lässt sich mit dem originalen Grundriss und dem Modell gemeinsam lesen. Die Zahl von elf Metern bezeichnet hier ausdrücklich die Breite der Bänder. Sie wird nicht als Gewölbehöhe oder als Gesamtlänge ausgegeben. Die gerundeten Enden geben den langgestreckten Bereichen eine erkennbare zusammenhängende Figur. Für weitere genaue Maße fehlen in der hier verfügbaren Reproduktion eindeutig lesbare Maßangaben.</a:t>
            </a:r>
          </a:p>
          <a:p/>
          <a:p>
            <a:r>
              <a:t>Quellen: [BCS 5] · D02 / U02</a:t>
            </a:r>
          </a:p>
          <a:p/>
          <a:p>
            <a:r>
              <a:t>Bildnachweise:</a:t>
            </a:r>
          </a:p>
          <a:p>
            <a:r>
              <a:t>D02: Arata Isozaki Atelier · BCS 1976, Druckseite 24</a:t>
            </a:r>
          </a:p>
          <a:p>
            <a:r>
              <a:t>Quelle / Original https://www.nikkenren.com/kenchiku/pdf/203/0203.pdf</a:t>
            </a:r>
          </a:p>
          <a:p>
            <a:r>
              <a:t>U02: Vom Nutzer bereitgestellt · Originalurheber / Lizenz ungeklärt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45 s)</a:t>
            </a:r>
          </a:p>
          <a:p/>
          <a:p>
            <a:r>
              <a:t>Das ursprüngliche Programm vereinte eine Bibliothek, ein Geschichtsmuseum und ein audiovisuelles Zentrum. Die BCS-Jury hebt die klare Trennung der Bereiche und die verständliche Erschließung hervor. Zugleich beschreibt sie unterschiedliche Raumerfahrungen innerhalb des zusammenhängenden Gebäudes. Links stehen die beiden vom Nutzer bereitgestellten Grundrisse, rechts der Grundriss der BCS-Dokumentation. Die Quelle und Raumlegende der Nutzerdatei sind nicht identifiziert. Deshalb ordne ich ihre Raumnummern keinen erfundenen Funktionen zu. Der Vergleich bleibt an der belegten Gesamtorganisation und an den Originalzeichnungen orientiert.</a:t>
            </a:r>
          </a:p>
          <a:p/>
          <a:p>
            <a:r>
              <a:t>Quellen: [BCS 5; Okumura 6] · U01 / D02</a:t>
            </a:r>
          </a:p>
          <a:p/>
          <a:p>
            <a:r>
              <a:t>Bildnachweise:</a:t>
            </a:r>
          </a:p>
          <a:p>
            <a:r>
              <a:t>U01: Vom Nutzer bereitgestellt · Originalurheber und Lizenz nicht identifiziert </a:t>
            </a:r>
          </a:p>
          <a:p>
            <a:r>
              <a:t>D02: Arata Isozaki Atelier · BCS 1976, Druckseite 24</a:t>
            </a:r>
          </a:p>
          <a:p>
            <a:r>
              <a:t>Quelle / Original https://www.nikkenren.com/kenchiku/pdf/203/0203.pdf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45 s)</a:t>
            </a:r>
          </a:p>
          <a:p/>
          <a:p>
            <a:r>
              <a:t>Der Originalschnitt ergänzt die Grundrisse um die vertikale Organisation. Die Gebäudetabellen der BCS-Dokumentation und die Angaben von Okumura nennen zwei oberirdische und zwei unterirdische Geschosse. Der englische Jurytext nennt an einer Stelle nur ein Untergeschoss. Für die Geschosszahl verwende ich deshalb die tabellarischen Projektdaten und den übereinstimmenden Eintrag des Bauunternehmens. Im Schnitt lässt sich die Verbindung von Gewölbe und unterschiedlichen Raumebenen nachvollziehen. Die Zeichnung ist ein Originaldokument und ersetzt hier eine frei rekonstruierte Raumskizze.</a:t>
            </a:r>
          </a:p>
          <a:p/>
          <a:p>
            <a:r>
              <a:t>Quellen: [BCS 5; Okumura 6] · D03</a:t>
            </a:r>
          </a:p>
          <a:p/>
          <a:p>
            <a:r>
              <a:t>Bildnachweise:</a:t>
            </a:r>
          </a:p>
          <a:p>
            <a:r>
              <a:t>D03: Arata Isozaki Atelier · BCS 1976, Druckseite 24</a:t>
            </a:r>
          </a:p>
          <a:p>
            <a:r>
              <a:t>Quelle / Original https://www.nikkenren.com/kenchiku/pdf/203/0203.pdf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50 s)</a:t>
            </a:r>
          </a:p>
          <a:p/>
          <a:p>
            <a:r>
              <a:t>Die freie Gebäudeform musste in herstellbare Bauteile übersetzt werden. Okumura nennt insgesamt zweihundertzehn vorgefertigte Gewölbeelemente in neununddreißig Typen und beschreibt das System als Dreigelenkbögen. Die BCS-Jury würdigt diese Herstellung ausdrücklich als anspruchsvolle Aufgabe ohne entsprechendes Vorbild für die Ausführung. Links ist eine öffentlich gezeigte Ausführungszeichnung aus dem Archiv von Arata Isozaki and Associates zu sehen, publiziert in a+u. Rechts zeigt eine historische Aufnahme die sichtbaren Rippen im fertigen Innenraum. Der Vergleich verbindet ein Originaldokument der Planung mit dem dokumentierten gebauten Zustand.</a:t>
            </a:r>
          </a:p>
          <a:p/>
          <a:p>
            <a:r>
              <a:t>Quellen: [BCS 5; Okumura 6; a+u 7] · D04 / A03</a:t>
            </a:r>
          </a:p>
          <a:p/>
          <a:p>
            <a:r>
              <a:t>Bildnachweise:</a:t>
            </a:r>
          </a:p>
          <a:p>
            <a:r>
              <a:t>D04: Arata Isozaki &amp; Associates · Shinkenchiku-Sha, a+u 2020:08</a:t>
            </a:r>
          </a:p>
          <a:p>
            <a:r>
              <a:t>Quelle / Original https://au-magazine.com/shop/architecture-and-urbanism/au-202008/</a:t>
            </a:r>
          </a:p>
          <a:p>
            <a:r>
              <a:t>A03: Projektarchiv Okumura · Motiv auch in BCS 1976</a:t>
            </a:r>
          </a:p>
          <a:p>
            <a:r>
              <a:t>Quelle / Original https://www.okumuragumi.co.jp/works/1975_kitakyu-library.html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40 s)</a:t>
            </a:r>
          </a:p>
          <a:p/>
          <a:p>
            <a:r>
              <a:t>Die heutigen Innenaufnahmen zeigen die Bibliothek als genutzten Raum. Gewölberippen, Treppe, Galerie und Bücherregale treten gemeinsam in Erscheinung. Die BCS-Jury beschreibt die Wirkung der Rippen als beinahe gotische Feierlichkeit, zugleich aber auch eine zurückhaltende Innenraumgestaltung. Die Fotos erlauben einen Vergleich dieser historischen Beurteilung mit dem heutigen Erscheinungsbild. Die koreanischen Textüberlagerungen der Nutzerdateien bleiben erhalten. Ihre zusätzlichen technischen Angaben werden nicht ohne unabhängige Bestätigung übernommen. Maßgeblich für die Konstruktion bleiben die Originaldokumentation und die Angaben des Bauunternehmens.</a:t>
            </a:r>
          </a:p>
          <a:p/>
          <a:p>
            <a:r>
              <a:t>Quellen: [BCS 5] · U04 / U05 / U07: Nutzerdateien</a:t>
            </a:r>
          </a:p>
          <a:p/>
          <a:p>
            <a:r>
              <a:t>Bildnachweise:</a:t>
            </a:r>
          </a:p>
          <a:p>
            <a:r>
              <a:t>U04: Vom Nutzer bereitgestellt · Originalurheber / Lizenz ungeklärt </a:t>
            </a:r>
          </a:p>
          <a:p>
            <a:r>
              <a:t>U05: Vom Nutzer bereitgestellt · Originalurheber / Lizenz ungeklärt </a:t>
            </a:r>
          </a:p>
          <a:p>
            <a:r>
              <a:t>U07: Vom Nutzer bereitgestellt · Originalurheber / Lizenz ungeklärt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45 s)</a:t>
            </a:r>
          </a:p>
          <a:p/>
          <a:p>
            <a:r>
              <a:t>Die Bibliothek lässt sich als Verbindung einer räumlichen Großform mit einer konkreten Herstellungsaufgabe einordnen. Schon die BCS-Jury von 1976 beurteilt sie sowohl als funktionale öffentliche Einrichtung als auch als räumliche Atmosphäre. Die a+u-Ausgabe von 2020 untersucht Isozakis Bauten der siebziger Jahre ausdrücklich anhand von Ausführungszeichnungen und Interviews. Der Vergleich des historischen Leseraums mit der heutigen Bildvorlage bindet diese Einordnung an zwei dokumentierte Ansichten. Die Architektur wird dabei über ihre Räume, ihre öffentliche Nutzung und ihre ausführbare Konstruktion diskutiert, statt nur über ein vereinfachtes Formbild.</a:t>
            </a:r>
          </a:p>
          <a:p/>
          <a:p>
            <a:r>
              <a:t>Quellen: [BCS 5; a+u 7] · A02 / U06</a:t>
            </a:r>
          </a:p>
          <a:p/>
          <a:p>
            <a:r>
              <a:t>Bildnachweise:</a:t>
            </a:r>
          </a:p>
          <a:p>
            <a:r>
              <a:t>A02: Projektarchiv Okumura · Motiv auch in BCS 1976</a:t>
            </a:r>
          </a:p>
          <a:p>
            <a:r>
              <a:t>Quelle / Original https://www.okumuragumi.co.jp/works/1975_kitakyu-library.html</a:t>
            </a:r>
          </a:p>
          <a:p>
            <a:r>
              <a:t>U06: Vom Nutzer bereitgestellt · Originalurheber / Lizenz ungeklärt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30 s)</a:t>
            </a:r>
          </a:p>
          <a:p/>
          <a:p>
            <a:r>
              <a:t>Für das Fazit lassen sich drei belegte Punkte verbinden. Die Form besteht aus zwei J-förmigen Gebäudebändern. Die sichtbaren Gewölberippen prägen die räumliche Erfahrung der Bibliothek. Ihre Herstellung beruht auf zweihundertzehn vorgefertigten Elementen in neununddreißig Typen. Damit verbindet der Bau eine klar erkennbare Figur mit öffentlicher Nutzung und einer anspruchsvollen konkreten Ausführung. Lageplan, Grundrisse, Schnitt, Ausführungsblatt und historische Bilder bilden gemeinsam die Grundlage dieser Betrachtung.</a:t>
            </a:r>
          </a:p>
          <a:p/>
          <a:p>
            <a:r>
              <a:t>Quellen: [BCS 5; Okumura 6] · U08: Nutzerdatei</a:t>
            </a:r>
          </a:p>
          <a:p/>
          <a:p>
            <a:r>
              <a:t>Bildnachweise:</a:t>
            </a:r>
          </a:p>
          <a:p>
            <a:r>
              <a:t>U08: Vom Nutzer bereitgestellt · Originalurheber / Lizenz ungeklärt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15 s)</a:t>
            </a:r>
          </a:p>
          <a:p/>
          <a:p>
            <a:r>
              <a:t>Die zentralen Belege stammen vom Architekturbüro, aus der zeitgenössischen BCS-Dokumentation, vom ausführenden Bauunternehmen und aus der Verlagsvorschau von a+u. Alle Quellen sind in der Rechercheübersicht verlinkt. Dort stehen auch die vollständigen Bildnachweise und die verbleibenden Lücken der Dokumentation.</a:t>
            </a:r>
          </a:p>
          <a:p/>
          <a:p>
            <a:r>
              <a:t>Quellen: Primärquellen · Links und vollständige Nachweise im Recherche-PDF</a:t>
            </a:r>
          </a:p>
          <a:p/>
          <a:p>
            <a:r>
              <a:t>Bildnachweise:</a:t>
            </a:r>
          </a:p>
          <a:p>
            <a:r>
              <a:t>D01: Arata Isozaki Atelier · BCS 1976, Druckseite 24</a:t>
            </a:r>
          </a:p>
          <a:p>
            <a:r>
              <a:t>Quelle / Original https://www.nikkenren.com/kenchiku/pdf/203/0203.pdf</a:t>
            </a:r>
          </a:p>
          <a:p>
            <a:r>
              <a:t>D02: Arata Isozaki Atelier · BCS 1976, Druckseite 24</a:t>
            </a:r>
          </a:p>
          <a:p>
            <a:r>
              <a:t>Quelle / Original https://www.nikkenren.com/kenchiku/pdf/203/0203.pdf</a:t>
            </a:r>
          </a:p>
          <a:p>
            <a:r>
              <a:t>D03: Arata Isozaki Atelier · BCS 1976, Druckseite 24</a:t>
            </a:r>
          </a:p>
          <a:p>
            <a:r>
              <a:t>Quelle / Original https://www.nikkenren.com/kenchiku/pdf/203/0203.pdf</a:t>
            </a:r>
          </a:p>
          <a:p>
            <a:r>
              <a:t>D04: Arata Isozaki &amp; Associates · Shinkenchiku-Sha, a+u 2020:08</a:t>
            </a:r>
          </a:p>
          <a:p>
            <a:r>
              <a:t>Quelle / Original https://au-magazine.com/shop/architecture-and-urbanism/au-202008/</a:t>
            </a:r>
          </a:p>
          <a:p>
            <a:r>
              <a:t>A01: Projektarchiv Okumura · Motiv auch in BCS 1976</a:t>
            </a:r>
          </a:p>
          <a:p>
            <a:r>
              <a:t>Quelle / Original https://www.okumuragumi.co.jp/works/1975_kitakyu-library.html</a:t>
            </a:r>
          </a:p>
          <a:p>
            <a:r>
              <a:t>A02: Projektarchiv Okumura · Motiv auch in BCS 1976</a:t>
            </a:r>
          </a:p>
          <a:p>
            <a:r>
              <a:t>Quelle / Original https://www.okumuragumi.co.jp/works/1975_kitakyu-library.html</a:t>
            </a:r>
          </a:p>
          <a:p>
            <a:r>
              <a:t>A03: Projektarchiv Okumura · Motiv auch in BCS 1976</a:t>
            </a:r>
          </a:p>
          <a:p>
            <a:r>
              <a:t>Quelle / Original https://www.okumuragumi.co.jp/works/1975_kitakyu-library.html</a:t>
            </a:r>
          </a:p>
          <a:p>
            <a:r>
              <a:t>P10: 八幡鏡太郎 · 2016-08-15 12:31:34</a:t>
            </a:r>
          </a:p>
          <a:p>
            <a:r>
              <a:t>Quelle / Original · CC BY 4.0 https://commons.wikimedia.org/wiki/File:Kitakyusyu_Central_Library.jpg | https://creativecommons.org/licenses/by/4.0</a:t>
            </a:r>
          </a:p>
          <a:p>
            <a:r>
              <a:t>U01: Vom Nutzer bereitgestellt · Originalurheber und Lizenz nicht identifiziert </a:t>
            </a:r>
          </a:p>
          <a:p>
            <a:r>
              <a:t>U02: Vom Nutzer bereitgestellt · Originalurheber / Lizenz ungeklärt </a:t>
            </a:r>
          </a:p>
          <a:p>
            <a:r>
              <a:t>U03: Vom Nutzer bereitgestellt · Originalurheber / Lizenz ungeklärt </a:t>
            </a:r>
          </a:p>
          <a:p>
            <a:r>
              <a:t>U04: Vom Nutzer bereitgestellt · Originalurheber / Lizenz ungeklärt </a:t>
            </a:r>
          </a:p>
          <a:p>
            <a:r>
              <a:t>U05: Vom Nutzer bereitgestellt · Originalurheber / Lizenz ungeklärt </a:t>
            </a:r>
          </a:p>
          <a:p>
            <a:r>
              <a:t>U06: Vom Nutzer bereitgestellt · Originalurheber / Lizenz ungeklärt </a:t>
            </a:r>
          </a:p>
          <a:p>
            <a:r>
              <a:t>U07: Vom Nutzer bereitgestellt · Originalurheber / Lizenz ungeklärt </a:t>
            </a:r>
          </a:p>
          <a:p>
            <a:r>
              <a:t>U08: Vom Nutzer bereitgestellt · Originalurheber / Lizenz ungeklärt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6.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2.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sozaki.co.jp/archives/projects/%E5%8C%97%E4%B9%9D%E5%B7%9E%E5%B8%82%E7%AB%8B%E4%B8%AD%E5%A4%AE%E5%9B%B3%E6%9B%B8%E9%A4%A8/" TargetMode="External"/><Relationship Id="rId3" Type="http://schemas.openxmlformats.org/officeDocument/2006/relationships/hyperlink" Target="https://www.nikkenren.com/kenchiku/pdf/203/0203.pdf" TargetMode="External"/><Relationship Id="rId4" Type="http://schemas.openxmlformats.org/officeDocument/2006/relationships/hyperlink" Target="https://www.okumuragumi.co.jp/works/1975_kitakyu-library.html" TargetMode="External"/><Relationship Id="rId5" Type="http://schemas.openxmlformats.org/officeDocument/2006/relationships/hyperlink" Target="https://au-magazine.com/shop/architecture-and-urbanism/au-202008/" TargetMode="External"/><Relationship Id="rId6" Type="http://schemas.openxmlformats.org/officeDocument/2006/relationships/hyperlink" Target="https://www.city.kitakyushu.lg.jp/kyouiku/file_0385.html" TargetMode="External"/><Relationship Id="rId7" Type="http://schemas.openxmlformats.org/officeDocument/2006/relationships/hyperlink" Target="https://www.pritzkerprize.com/laureates/arata-isozaki" TargetMode="External"/><Relationship Id="rId8"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623"/>
        </a:solidFill>
        <a:effectLst/>
      </p:bgPr>
    </p:bg>
    <p:spTree>
      <p:nvGrpSpPr>
        <p:cNvPr id="1" name=""/>
        <p:cNvGrpSpPr/>
        <p:nvPr/>
      </p:nvGrpSpPr>
      <p:grpSpPr/>
      <p:sp>
        <p:nvSpPr>
          <p:cNvPr id="2" name="TextBox 1"/>
          <p:cNvSpPr txBox="1"/>
          <p:nvPr/>
        </p:nvSpPr>
        <p:spPr>
          <a:xfrm>
            <a:off x="502920" y="274320"/>
            <a:ext cx="10972800" cy="201168"/>
          </a:xfrm>
          <a:prstGeom prst="rect">
            <a:avLst/>
          </a:prstGeom>
          <a:noFill/>
        </p:spPr>
        <p:txBody>
          <a:bodyPr wrap="square" lIns="0" rIns="0" tIns="0" bIns="0" anchor="t">
            <a:spAutoFit/>
          </a:bodyPr>
          <a:lstStyle/>
          <a:p>
            <a:pPr algn="l">
              <a:spcBef>
                <a:spcPts val="0"/>
              </a:spcBef>
              <a:spcAft>
                <a:spcPts val="300"/>
              </a:spcAft>
            </a:pPr>
            <a:r>
              <a:rPr sz="1000" b="0">
                <a:solidFill>
                  <a:srgbClr val="D29A74"/>
                </a:solidFill>
                <a:latin typeface="Courier New"/>
              </a:rPr>
              <a:t>KITAKYUSHU CENTRAL LIBRARY / OBJEKTANALYSE</a:t>
            </a:r>
          </a:p>
        </p:txBody>
      </p:sp>
      <p:sp>
        <p:nvSpPr>
          <p:cNvPr id="3" name="Rectangle 2"/>
          <p:cNvSpPr/>
          <p:nvPr/>
        </p:nvSpPr>
        <p:spPr>
          <a:xfrm>
            <a:off x="502920" y="6355080"/>
            <a:ext cx="11183112" cy="10972"/>
          </a:xfrm>
          <a:prstGeom prst="rect">
            <a:avLst/>
          </a:prstGeom>
          <a:solidFill>
            <a:srgbClr val="435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9326880" cy="164592"/>
          </a:xfrm>
          <a:prstGeom prst="rect">
            <a:avLst/>
          </a:prstGeom>
          <a:noFill/>
        </p:spPr>
        <p:txBody>
          <a:bodyPr wrap="square" lIns="0" rIns="0" tIns="0" bIns="0" anchor="t">
            <a:spAutoFit/>
          </a:bodyPr>
          <a:lstStyle/>
          <a:p>
            <a:pPr algn="l">
              <a:spcBef>
                <a:spcPts val="0"/>
              </a:spcBef>
              <a:spcAft>
                <a:spcPts val="300"/>
              </a:spcAft>
            </a:pPr>
            <a:r>
              <a:rPr sz="850" b="0">
                <a:solidFill>
                  <a:srgbClr val="A8BDB3"/>
                </a:solidFill>
                <a:latin typeface="Arial"/>
              </a:rPr>
              <a:t>Quellen: [Büro 1; BCS 5] · P10: CC BY 4.0</a:t>
            </a:r>
          </a:p>
        </p:txBody>
      </p:sp>
      <p:sp>
        <p:nvSpPr>
          <p:cNvPr id="5" name="TextBox 4"/>
          <p:cNvSpPr txBox="1"/>
          <p:nvPr/>
        </p:nvSpPr>
        <p:spPr>
          <a:xfrm>
            <a:off x="9966960" y="6419088"/>
            <a:ext cx="1719072" cy="228600"/>
          </a:xfrm>
          <a:prstGeom prst="rect">
            <a:avLst/>
          </a:prstGeom>
          <a:noFill/>
        </p:spPr>
        <p:txBody>
          <a:bodyPr wrap="square" lIns="0" rIns="0" tIns="0" bIns="0" anchor="t">
            <a:spAutoFit/>
          </a:bodyPr>
          <a:lstStyle/>
          <a:p>
            <a:pPr algn="r">
              <a:spcBef>
                <a:spcPts val="0"/>
              </a:spcBef>
              <a:spcAft>
                <a:spcPts val="300"/>
              </a:spcAft>
            </a:pPr>
            <a:r>
              <a:rPr sz="1000" b="0">
                <a:solidFill>
                  <a:srgbClr val="A8BDB3"/>
                </a:solidFill>
                <a:latin typeface="Arial"/>
              </a:rPr>
              <a:t>Luca Ingui · 01</a:t>
            </a:r>
          </a:p>
        </p:txBody>
      </p:sp>
      <p:sp>
        <p:nvSpPr>
          <p:cNvPr id="6" name="TextBox 5"/>
          <p:cNvSpPr txBox="1"/>
          <p:nvPr/>
        </p:nvSpPr>
        <p:spPr>
          <a:xfrm>
            <a:off x="502920" y="1143000"/>
            <a:ext cx="4251960" cy="1874519"/>
          </a:xfrm>
          <a:prstGeom prst="rect">
            <a:avLst/>
          </a:prstGeom>
          <a:noFill/>
        </p:spPr>
        <p:txBody>
          <a:bodyPr wrap="square" lIns="0" rIns="0" tIns="0" bIns="0" anchor="t">
            <a:spAutoFit/>
          </a:bodyPr>
          <a:lstStyle/>
          <a:p>
            <a:pPr algn="l">
              <a:spcBef>
                <a:spcPts val="0"/>
              </a:spcBef>
              <a:spcAft>
                <a:spcPts val="300"/>
              </a:spcAft>
            </a:pPr>
            <a:r>
              <a:rPr sz="4200" b="0">
                <a:solidFill>
                  <a:srgbClr val="F4F1E6"/>
                </a:solidFill>
                <a:latin typeface="Georgia"/>
              </a:rPr>
              <a:t>Kitakyushu</a:t>
            </a:r>
          </a:p>
          <a:p>
            <a:pPr algn="l">
              <a:spcBef>
                <a:spcPts val="0"/>
              </a:spcBef>
              <a:spcAft>
                <a:spcPts val="300"/>
              </a:spcAft>
            </a:pPr>
            <a:r>
              <a:rPr sz="4200" b="0">
                <a:solidFill>
                  <a:srgbClr val="F4F1E6"/>
                </a:solidFill>
                <a:latin typeface="Georgia"/>
              </a:rPr>
              <a:t>Central Library</a:t>
            </a:r>
          </a:p>
        </p:txBody>
      </p:sp>
      <p:sp>
        <p:nvSpPr>
          <p:cNvPr id="7" name="TextBox 6"/>
          <p:cNvSpPr txBox="1"/>
          <p:nvPr/>
        </p:nvSpPr>
        <p:spPr>
          <a:xfrm>
            <a:off x="530352" y="3273552"/>
            <a:ext cx="4023360" cy="411480"/>
          </a:xfrm>
          <a:prstGeom prst="rect">
            <a:avLst/>
          </a:prstGeom>
          <a:noFill/>
        </p:spPr>
        <p:txBody>
          <a:bodyPr wrap="square" lIns="0" rIns="0" tIns="0" bIns="0" anchor="t">
            <a:spAutoFit/>
          </a:bodyPr>
          <a:lstStyle/>
          <a:p>
            <a:pPr algn="l">
              <a:spcBef>
                <a:spcPts val="0"/>
              </a:spcBef>
              <a:spcAft>
                <a:spcPts val="300"/>
              </a:spcAft>
            </a:pPr>
            <a:r>
              <a:rPr sz="2300" b="0">
                <a:solidFill>
                  <a:srgbClr val="D29A74"/>
                </a:solidFill>
                <a:latin typeface="Georgia"/>
              </a:rPr>
              <a:t>Arata Isozaki</a:t>
            </a:r>
          </a:p>
        </p:txBody>
      </p:sp>
      <p:sp>
        <p:nvSpPr>
          <p:cNvPr id="8" name="TextBox 7"/>
          <p:cNvSpPr txBox="1"/>
          <p:nvPr/>
        </p:nvSpPr>
        <p:spPr>
          <a:xfrm>
            <a:off x="530352" y="3840480"/>
            <a:ext cx="4041648" cy="777240"/>
          </a:xfrm>
          <a:prstGeom prst="rect">
            <a:avLst/>
          </a:prstGeom>
          <a:noFill/>
        </p:spPr>
        <p:txBody>
          <a:bodyPr wrap="square" lIns="0" rIns="0" tIns="0" bIns="0" anchor="t">
            <a:spAutoFit/>
          </a:bodyPr>
          <a:lstStyle/>
          <a:p>
            <a:pPr algn="l">
              <a:spcBef>
                <a:spcPts val="0"/>
              </a:spcBef>
              <a:spcAft>
                <a:spcPts val="300"/>
              </a:spcAft>
            </a:pPr>
            <a:r>
              <a:rPr sz="1700" b="0">
                <a:solidFill>
                  <a:srgbClr val="A8BDB3"/>
                </a:solidFill>
                <a:latin typeface="Arial"/>
              </a:rPr>
              <a:t>Kitakyushu, Japan</a:t>
            </a:r>
          </a:p>
          <a:p>
            <a:pPr algn="l">
              <a:spcBef>
                <a:spcPts val="0"/>
              </a:spcBef>
              <a:spcAft>
                <a:spcPts val="300"/>
              </a:spcAft>
            </a:pPr>
            <a:r>
              <a:rPr sz="1700" b="0">
                <a:solidFill>
                  <a:srgbClr val="A8BDB3"/>
                </a:solidFill>
                <a:latin typeface="Arial"/>
              </a:rPr>
              <a:t>Projekt und Bau: 1973–1975</a:t>
            </a:r>
          </a:p>
        </p:txBody>
      </p:sp>
      <p:sp>
        <p:nvSpPr>
          <p:cNvPr id="9" name="TextBox 8"/>
          <p:cNvSpPr txBox="1"/>
          <p:nvPr/>
        </p:nvSpPr>
        <p:spPr>
          <a:xfrm>
            <a:off x="530352" y="5422392"/>
            <a:ext cx="4023360" cy="457200"/>
          </a:xfrm>
          <a:prstGeom prst="rect">
            <a:avLst/>
          </a:prstGeom>
          <a:noFill/>
        </p:spPr>
        <p:txBody>
          <a:bodyPr wrap="square" lIns="0" rIns="0" tIns="0" bIns="0" anchor="t">
            <a:spAutoFit/>
          </a:bodyPr>
          <a:lstStyle/>
          <a:p>
            <a:pPr algn="l">
              <a:spcBef>
                <a:spcPts val="0"/>
              </a:spcBef>
              <a:spcAft>
                <a:spcPts val="300"/>
              </a:spcAft>
            </a:pPr>
            <a:r>
              <a:rPr sz="2100" b="0">
                <a:solidFill>
                  <a:srgbClr val="F4F1E6"/>
                </a:solidFill>
                <a:latin typeface="Arial"/>
              </a:rPr>
              <a:t>Luca Ingui</a:t>
            </a:r>
          </a:p>
        </p:txBody>
      </p:sp>
      <p:pic>
        <p:nvPicPr>
          <p:cNvPr id="10" name="P10 · Originalabbildung" descr="P10.jpg"/>
          <p:cNvPicPr>
            <a:picLocks noChangeAspect="1"/>
          </p:cNvPicPr>
          <p:nvPr/>
        </p:nvPicPr>
        <p:blipFill>
          <a:blip r:embed="rId2"/>
          <a:stretch>
            <a:fillRect/>
          </a:stretch>
        </p:blipFill>
        <p:spPr>
          <a:xfrm>
            <a:off x="5029200" y="438912"/>
            <a:ext cx="6656832" cy="3744468"/>
          </a:xfrm>
          <a:prstGeom prst="rect">
            <a:avLst/>
          </a:prstGeom>
        </p:spPr>
      </p:pic>
      <p:sp>
        <p:nvSpPr>
          <p:cNvPr id="11" name="TextBox 10"/>
          <p:cNvSpPr txBox="1"/>
          <p:nvPr/>
        </p:nvSpPr>
        <p:spPr>
          <a:xfrm>
            <a:off x="5029200" y="4407408"/>
            <a:ext cx="2103120"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Grundriss · BCS 1976</a:t>
            </a:r>
          </a:p>
        </p:txBody>
      </p:sp>
      <p:sp>
        <p:nvSpPr>
          <p:cNvPr id="12" name="TextBox 11"/>
          <p:cNvSpPr txBox="1"/>
          <p:nvPr/>
        </p:nvSpPr>
        <p:spPr>
          <a:xfrm>
            <a:off x="7342631" y="4407408"/>
            <a:ext cx="4178808"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Schnitt · BCS 1976</a:t>
            </a:r>
          </a:p>
        </p:txBody>
      </p:sp>
      <p:pic>
        <p:nvPicPr>
          <p:cNvPr id="13" name="D02 · Originalabbildung" descr="D02.jpg"/>
          <p:cNvPicPr>
            <a:picLocks noChangeAspect="1"/>
          </p:cNvPicPr>
          <p:nvPr/>
        </p:nvPicPr>
        <p:blipFill>
          <a:blip r:embed="rId3"/>
          <a:stretch>
            <a:fillRect/>
          </a:stretch>
        </p:blipFill>
        <p:spPr>
          <a:xfrm>
            <a:off x="5029200" y="4718304"/>
            <a:ext cx="2046265" cy="1170432"/>
          </a:xfrm>
          <a:prstGeom prst="rect">
            <a:avLst/>
          </a:prstGeom>
        </p:spPr>
      </p:pic>
      <p:pic>
        <p:nvPicPr>
          <p:cNvPr id="14" name="D03 · Originalabbildung" descr="D03.jpg"/>
          <p:cNvPicPr>
            <a:picLocks noChangeAspect="1"/>
          </p:cNvPicPr>
          <p:nvPr/>
        </p:nvPicPr>
        <p:blipFill>
          <a:blip r:embed="rId4"/>
          <a:stretch>
            <a:fillRect/>
          </a:stretch>
        </p:blipFill>
        <p:spPr>
          <a:xfrm>
            <a:off x="7342631" y="4718304"/>
            <a:ext cx="3993238" cy="11704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2623"/>
        </a:solidFill>
        <a:effectLst/>
      </p:bgPr>
    </p:bg>
    <p:spTree>
      <p:nvGrpSpPr>
        <p:cNvPr id="1" name=""/>
        <p:cNvGrpSpPr/>
        <p:nvPr/>
      </p:nvGrpSpPr>
      <p:grpSpPr/>
      <p:sp>
        <p:nvSpPr>
          <p:cNvPr id="2" name="TextBox 1"/>
          <p:cNvSpPr txBox="1"/>
          <p:nvPr/>
        </p:nvSpPr>
        <p:spPr>
          <a:xfrm>
            <a:off x="502920" y="274320"/>
            <a:ext cx="10972800" cy="201168"/>
          </a:xfrm>
          <a:prstGeom prst="rect">
            <a:avLst/>
          </a:prstGeom>
          <a:noFill/>
        </p:spPr>
        <p:txBody>
          <a:bodyPr wrap="square" lIns="0" rIns="0" tIns="0" bIns="0" anchor="t">
            <a:spAutoFit/>
          </a:bodyPr>
          <a:lstStyle/>
          <a:p>
            <a:pPr algn="l">
              <a:spcBef>
                <a:spcPts val="0"/>
              </a:spcBef>
              <a:spcAft>
                <a:spcPts val="300"/>
              </a:spcAft>
            </a:pPr>
            <a:r>
              <a:rPr sz="1000" b="0">
                <a:solidFill>
                  <a:srgbClr val="D29A74"/>
                </a:solidFill>
                <a:latin typeface="Courier New"/>
              </a:rPr>
              <a:t>01 / ERBAUUNG</a:t>
            </a:r>
          </a:p>
        </p:txBody>
      </p:sp>
      <p:sp>
        <p:nvSpPr>
          <p:cNvPr id="3" name="TextBox 2"/>
          <p:cNvSpPr txBox="1"/>
          <p:nvPr/>
        </p:nvSpPr>
        <p:spPr>
          <a:xfrm>
            <a:off x="502920" y="640080"/>
            <a:ext cx="11173968" cy="603504"/>
          </a:xfrm>
          <a:prstGeom prst="rect">
            <a:avLst/>
          </a:prstGeom>
          <a:noFill/>
        </p:spPr>
        <p:txBody>
          <a:bodyPr wrap="square" lIns="0" rIns="0" tIns="0" bIns="0" anchor="t">
            <a:spAutoFit/>
          </a:bodyPr>
          <a:lstStyle/>
          <a:p>
            <a:pPr algn="l">
              <a:spcBef>
                <a:spcPts val="0"/>
              </a:spcBef>
              <a:spcAft>
                <a:spcPts val="300"/>
              </a:spcAft>
            </a:pPr>
            <a:r>
              <a:rPr sz="3200" b="0">
                <a:solidFill>
                  <a:srgbClr val="F4F1E6"/>
                </a:solidFill>
                <a:latin typeface="Georgia"/>
              </a:rPr>
              <a:t>1973–1975: Entwurf und Bau</a:t>
            </a:r>
          </a:p>
        </p:txBody>
      </p:sp>
      <p:sp>
        <p:nvSpPr>
          <p:cNvPr id="4" name="Rectangle 3"/>
          <p:cNvSpPr/>
          <p:nvPr/>
        </p:nvSpPr>
        <p:spPr>
          <a:xfrm>
            <a:off x="502920" y="6355080"/>
            <a:ext cx="11183112" cy="10972"/>
          </a:xfrm>
          <a:prstGeom prst="rect">
            <a:avLst/>
          </a:prstGeom>
          <a:solidFill>
            <a:srgbClr val="435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9326880" cy="164592"/>
          </a:xfrm>
          <a:prstGeom prst="rect">
            <a:avLst/>
          </a:prstGeom>
          <a:noFill/>
        </p:spPr>
        <p:txBody>
          <a:bodyPr wrap="square" lIns="0" rIns="0" tIns="0" bIns="0" anchor="t">
            <a:spAutoFit/>
          </a:bodyPr>
          <a:lstStyle/>
          <a:p>
            <a:pPr algn="l">
              <a:spcBef>
                <a:spcPts val="0"/>
              </a:spcBef>
              <a:spcAft>
                <a:spcPts val="300"/>
              </a:spcAft>
            </a:pPr>
            <a:r>
              <a:rPr sz="850" b="0">
                <a:solidFill>
                  <a:srgbClr val="A8BDB3"/>
                </a:solidFill>
                <a:latin typeface="Arial"/>
              </a:rPr>
              <a:t>Quellen: [Büro 1; BCS 5; Okumura 6]</a:t>
            </a:r>
          </a:p>
        </p:txBody>
      </p:sp>
      <p:sp>
        <p:nvSpPr>
          <p:cNvPr id="6" name="TextBox 5"/>
          <p:cNvSpPr txBox="1"/>
          <p:nvPr/>
        </p:nvSpPr>
        <p:spPr>
          <a:xfrm>
            <a:off x="9966960" y="6419088"/>
            <a:ext cx="1719072" cy="228600"/>
          </a:xfrm>
          <a:prstGeom prst="rect">
            <a:avLst/>
          </a:prstGeom>
          <a:noFill/>
        </p:spPr>
        <p:txBody>
          <a:bodyPr wrap="square" lIns="0" rIns="0" tIns="0" bIns="0" anchor="t">
            <a:spAutoFit/>
          </a:bodyPr>
          <a:lstStyle/>
          <a:p>
            <a:pPr algn="r">
              <a:spcBef>
                <a:spcPts val="0"/>
              </a:spcBef>
              <a:spcAft>
                <a:spcPts val="300"/>
              </a:spcAft>
            </a:pPr>
            <a:r>
              <a:rPr sz="1000" b="0">
                <a:solidFill>
                  <a:srgbClr val="A8BDB3"/>
                </a:solidFill>
                <a:latin typeface="Arial"/>
              </a:rPr>
              <a:t>Luca Ingui · 02</a:t>
            </a:r>
          </a:p>
        </p:txBody>
      </p:sp>
      <p:sp>
        <p:nvSpPr>
          <p:cNvPr id="7" name="TextBox 6"/>
          <p:cNvSpPr txBox="1"/>
          <p:nvPr/>
        </p:nvSpPr>
        <p:spPr>
          <a:xfrm>
            <a:off x="502920" y="1508760"/>
            <a:ext cx="3657600" cy="566928"/>
          </a:xfrm>
          <a:prstGeom prst="rect">
            <a:avLst/>
          </a:prstGeom>
          <a:noFill/>
        </p:spPr>
        <p:txBody>
          <a:bodyPr wrap="square" lIns="0" rIns="0" tIns="0" bIns="0" anchor="t">
            <a:spAutoFit/>
          </a:bodyPr>
          <a:lstStyle/>
          <a:p>
            <a:pPr algn="l">
              <a:spcBef>
                <a:spcPts val="0"/>
              </a:spcBef>
              <a:spcAft>
                <a:spcPts val="300"/>
              </a:spcAft>
            </a:pPr>
            <a:r>
              <a:rPr sz="3200" b="0">
                <a:solidFill>
                  <a:srgbClr val="D29A74"/>
                </a:solidFill>
                <a:latin typeface="Georgia"/>
              </a:rPr>
              <a:t>1973–1974</a:t>
            </a:r>
          </a:p>
        </p:txBody>
      </p:sp>
      <p:sp>
        <p:nvSpPr>
          <p:cNvPr id="8" name="TextBox 7"/>
          <p:cNvSpPr txBox="1"/>
          <p:nvPr/>
        </p:nvSpPr>
        <p:spPr>
          <a:xfrm>
            <a:off x="502920" y="2203704"/>
            <a:ext cx="3730752" cy="420624"/>
          </a:xfrm>
          <a:prstGeom prst="rect">
            <a:avLst/>
          </a:prstGeom>
          <a:noFill/>
        </p:spPr>
        <p:txBody>
          <a:bodyPr wrap="square" lIns="0" rIns="0" tIns="0" bIns="0" anchor="t">
            <a:spAutoFit/>
          </a:bodyPr>
          <a:lstStyle/>
          <a:p>
            <a:pPr algn="l">
              <a:spcBef>
                <a:spcPts val="0"/>
              </a:spcBef>
              <a:spcAft>
                <a:spcPts val="300"/>
              </a:spcAft>
            </a:pPr>
            <a:r>
              <a:rPr sz="1500" b="0">
                <a:solidFill>
                  <a:srgbClr val="A8BDB3"/>
                </a:solidFill>
                <a:latin typeface="Arial"/>
              </a:rPr>
              <a:t>Projektzeitraum im Büroarchiv</a:t>
            </a:r>
          </a:p>
        </p:txBody>
      </p:sp>
      <p:sp>
        <p:nvSpPr>
          <p:cNvPr id="9" name="TextBox 8"/>
          <p:cNvSpPr txBox="1"/>
          <p:nvPr/>
        </p:nvSpPr>
        <p:spPr>
          <a:xfrm>
            <a:off x="502920" y="2880360"/>
            <a:ext cx="3657600" cy="566928"/>
          </a:xfrm>
          <a:prstGeom prst="rect">
            <a:avLst/>
          </a:prstGeom>
          <a:noFill/>
        </p:spPr>
        <p:txBody>
          <a:bodyPr wrap="square" lIns="0" rIns="0" tIns="0" bIns="0" anchor="t">
            <a:spAutoFit/>
          </a:bodyPr>
          <a:lstStyle/>
          <a:p>
            <a:pPr algn="l">
              <a:spcBef>
                <a:spcPts val="0"/>
              </a:spcBef>
              <a:spcAft>
                <a:spcPts val="300"/>
              </a:spcAft>
            </a:pPr>
            <a:r>
              <a:rPr sz="3200" b="0">
                <a:solidFill>
                  <a:srgbClr val="D29A74"/>
                </a:solidFill>
                <a:latin typeface="Georgia"/>
              </a:rPr>
              <a:t>März 1975</a:t>
            </a:r>
          </a:p>
        </p:txBody>
      </p:sp>
      <p:sp>
        <p:nvSpPr>
          <p:cNvPr id="10" name="TextBox 9"/>
          <p:cNvSpPr txBox="1"/>
          <p:nvPr/>
        </p:nvSpPr>
        <p:spPr>
          <a:xfrm>
            <a:off x="502920" y="3575304"/>
            <a:ext cx="3730752" cy="420624"/>
          </a:xfrm>
          <a:prstGeom prst="rect">
            <a:avLst/>
          </a:prstGeom>
          <a:noFill/>
        </p:spPr>
        <p:txBody>
          <a:bodyPr wrap="square" lIns="0" rIns="0" tIns="0" bIns="0" anchor="t">
            <a:spAutoFit/>
          </a:bodyPr>
          <a:lstStyle/>
          <a:p>
            <a:pPr algn="l">
              <a:spcBef>
                <a:spcPts val="0"/>
              </a:spcBef>
              <a:spcAft>
                <a:spcPts val="300"/>
              </a:spcAft>
            </a:pPr>
            <a:r>
              <a:rPr sz="1500" b="0">
                <a:solidFill>
                  <a:srgbClr val="A8BDB3"/>
                </a:solidFill>
                <a:latin typeface="Arial"/>
              </a:rPr>
              <a:t>Fertigstellung laut BCS</a:t>
            </a:r>
          </a:p>
        </p:txBody>
      </p:sp>
      <p:sp>
        <p:nvSpPr>
          <p:cNvPr id="11" name="TextBox 10"/>
          <p:cNvSpPr txBox="1"/>
          <p:nvPr/>
        </p:nvSpPr>
        <p:spPr>
          <a:xfrm>
            <a:off x="502920" y="4251960"/>
            <a:ext cx="3657600" cy="566928"/>
          </a:xfrm>
          <a:prstGeom prst="rect">
            <a:avLst/>
          </a:prstGeom>
          <a:noFill/>
        </p:spPr>
        <p:txBody>
          <a:bodyPr wrap="square" lIns="0" rIns="0" tIns="0" bIns="0" anchor="t">
            <a:spAutoFit/>
          </a:bodyPr>
          <a:lstStyle/>
          <a:p>
            <a:pPr algn="l">
              <a:spcBef>
                <a:spcPts val="0"/>
              </a:spcBef>
              <a:spcAft>
                <a:spcPts val="300"/>
              </a:spcAft>
            </a:pPr>
            <a:r>
              <a:rPr sz="3200" b="0">
                <a:solidFill>
                  <a:srgbClr val="D29A74"/>
                </a:solidFill>
                <a:latin typeface="Georgia"/>
              </a:rPr>
              <a:t>1976</a:t>
            </a:r>
          </a:p>
        </p:txBody>
      </p:sp>
      <p:sp>
        <p:nvSpPr>
          <p:cNvPr id="12" name="TextBox 11"/>
          <p:cNvSpPr txBox="1"/>
          <p:nvPr/>
        </p:nvSpPr>
        <p:spPr>
          <a:xfrm>
            <a:off x="502920" y="4946904"/>
            <a:ext cx="3730752" cy="420624"/>
          </a:xfrm>
          <a:prstGeom prst="rect">
            <a:avLst/>
          </a:prstGeom>
          <a:noFill/>
        </p:spPr>
        <p:txBody>
          <a:bodyPr wrap="square" lIns="0" rIns="0" tIns="0" bIns="0" anchor="t">
            <a:spAutoFit/>
          </a:bodyPr>
          <a:lstStyle/>
          <a:p>
            <a:pPr algn="l">
              <a:spcBef>
                <a:spcPts val="0"/>
              </a:spcBef>
              <a:spcAft>
                <a:spcPts val="300"/>
              </a:spcAft>
            </a:pPr>
            <a:r>
              <a:rPr sz="1500" b="0">
                <a:solidFill>
                  <a:srgbClr val="A8BDB3"/>
                </a:solidFill>
                <a:latin typeface="Arial"/>
              </a:rPr>
              <a:t>17. BCS-Preis</a:t>
            </a:r>
          </a:p>
        </p:txBody>
      </p:sp>
      <p:pic>
        <p:nvPicPr>
          <p:cNvPr id="13" name="A01 · Originalabbildung" descr="A01.jpg"/>
          <p:cNvPicPr>
            <a:picLocks noChangeAspect="1"/>
          </p:cNvPicPr>
          <p:nvPr/>
        </p:nvPicPr>
        <p:blipFill>
          <a:blip r:embed="rId2"/>
          <a:stretch>
            <a:fillRect/>
          </a:stretch>
        </p:blipFill>
        <p:spPr>
          <a:xfrm>
            <a:off x="4507992" y="1645920"/>
            <a:ext cx="2556622" cy="2971800"/>
          </a:xfrm>
          <a:prstGeom prst="rect">
            <a:avLst/>
          </a:prstGeom>
        </p:spPr>
      </p:pic>
      <p:pic>
        <p:nvPicPr>
          <p:cNvPr id="14" name="A03 · Originalabbildung" descr="A03.jpg"/>
          <p:cNvPicPr>
            <a:picLocks noChangeAspect="1"/>
          </p:cNvPicPr>
          <p:nvPr/>
        </p:nvPicPr>
        <p:blipFill>
          <a:blip r:embed="rId3"/>
          <a:stretch>
            <a:fillRect/>
          </a:stretch>
        </p:blipFill>
        <p:spPr>
          <a:xfrm>
            <a:off x="7525512" y="1645920"/>
            <a:ext cx="4096884" cy="2834640"/>
          </a:xfrm>
          <a:prstGeom prst="rect">
            <a:avLst/>
          </a:prstGeom>
        </p:spPr>
      </p:pic>
      <p:sp>
        <p:nvSpPr>
          <p:cNvPr id="15" name="TextBox 14"/>
          <p:cNvSpPr txBox="1"/>
          <p:nvPr/>
        </p:nvSpPr>
        <p:spPr>
          <a:xfrm>
            <a:off x="4507992" y="4764024"/>
            <a:ext cx="2743200"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Historische Gesamtansicht</a:t>
            </a:r>
          </a:p>
        </p:txBody>
      </p:sp>
      <p:sp>
        <p:nvSpPr>
          <p:cNvPr id="16" name="TextBox 15"/>
          <p:cNvSpPr txBox="1"/>
          <p:nvPr/>
        </p:nvSpPr>
        <p:spPr>
          <a:xfrm>
            <a:off x="7525512" y="4626864"/>
            <a:ext cx="4114800"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Gewölbe im gebauten Zustand</a:t>
            </a:r>
          </a:p>
        </p:txBody>
      </p:sp>
      <p:sp>
        <p:nvSpPr>
          <p:cNvPr id="17" name="TextBox 16"/>
          <p:cNvSpPr txBox="1"/>
          <p:nvPr/>
        </p:nvSpPr>
        <p:spPr>
          <a:xfrm>
            <a:off x="4507992" y="5650992"/>
            <a:ext cx="6766560" cy="365760"/>
          </a:xfrm>
          <a:prstGeom prst="rect">
            <a:avLst/>
          </a:prstGeom>
          <a:noFill/>
        </p:spPr>
        <p:txBody>
          <a:bodyPr wrap="square" lIns="0" rIns="0" tIns="0" bIns="0" anchor="t">
            <a:spAutoFit/>
          </a:bodyPr>
          <a:lstStyle/>
          <a:p>
            <a:pPr algn="l">
              <a:spcBef>
                <a:spcPts val="0"/>
              </a:spcBef>
              <a:spcAft>
                <a:spcPts val="300"/>
              </a:spcAft>
            </a:pPr>
            <a:r>
              <a:rPr sz="1700" b="0">
                <a:solidFill>
                  <a:srgbClr val="F4F1E6"/>
                </a:solidFill>
                <a:latin typeface="Arial"/>
              </a:rPr>
              <a:t>Historische Dokumentation: BCS 1976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2623"/>
        </a:solidFill>
        <a:effectLst/>
      </p:bgPr>
    </p:bg>
    <p:spTree>
      <p:nvGrpSpPr>
        <p:cNvPr id="1" name=""/>
        <p:cNvGrpSpPr/>
        <p:nvPr/>
      </p:nvGrpSpPr>
      <p:grpSpPr/>
      <p:sp>
        <p:nvSpPr>
          <p:cNvPr id="2" name="TextBox 1"/>
          <p:cNvSpPr txBox="1"/>
          <p:nvPr/>
        </p:nvSpPr>
        <p:spPr>
          <a:xfrm>
            <a:off x="502920" y="274320"/>
            <a:ext cx="10972800" cy="201168"/>
          </a:xfrm>
          <a:prstGeom prst="rect">
            <a:avLst/>
          </a:prstGeom>
          <a:noFill/>
        </p:spPr>
        <p:txBody>
          <a:bodyPr wrap="square" lIns="0" rIns="0" tIns="0" bIns="0" anchor="t">
            <a:spAutoFit/>
          </a:bodyPr>
          <a:lstStyle/>
          <a:p>
            <a:pPr algn="l">
              <a:spcBef>
                <a:spcPts val="0"/>
              </a:spcBef>
              <a:spcAft>
                <a:spcPts val="300"/>
              </a:spcAft>
            </a:pPr>
            <a:r>
              <a:rPr sz="1000" b="0">
                <a:solidFill>
                  <a:srgbClr val="D29A74"/>
                </a:solidFill>
                <a:latin typeface="Courier New"/>
              </a:rPr>
              <a:t>02 / ARCHITEKT</a:t>
            </a:r>
          </a:p>
        </p:txBody>
      </p:sp>
      <p:sp>
        <p:nvSpPr>
          <p:cNvPr id="3" name="TextBox 2"/>
          <p:cNvSpPr txBox="1"/>
          <p:nvPr/>
        </p:nvSpPr>
        <p:spPr>
          <a:xfrm>
            <a:off x="502920" y="640080"/>
            <a:ext cx="11173968" cy="603504"/>
          </a:xfrm>
          <a:prstGeom prst="rect">
            <a:avLst/>
          </a:prstGeom>
          <a:noFill/>
        </p:spPr>
        <p:txBody>
          <a:bodyPr wrap="square" lIns="0" rIns="0" tIns="0" bIns="0" anchor="t">
            <a:spAutoFit/>
          </a:bodyPr>
          <a:lstStyle/>
          <a:p>
            <a:pPr algn="l">
              <a:spcBef>
                <a:spcPts val="0"/>
              </a:spcBef>
              <a:spcAft>
                <a:spcPts val="300"/>
              </a:spcAft>
            </a:pPr>
            <a:r>
              <a:rPr sz="3200" b="0">
                <a:solidFill>
                  <a:srgbClr val="F4F1E6"/>
                </a:solidFill>
                <a:latin typeface="Georgia"/>
              </a:rPr>
              <a:t>Arata Isozaki</a:t>
            </a:r>
          </a:p>
        </p:txBody>
      </p:sp>
      <p:sp>
        <p:nvSpPr>
          <p:cNvPr id="4" name="Rectangle 3"/>
          <p:cNvSpPr/>
          <p:nvPr/>
        </p:nvSpPr>
        <p:spPr>
          <a:xfrm>
            <a:off x="502920" y="6355080"/>
            <a:ext cx="11183112" cy="10972"/>
          </a:xfrm>
          <a:prstGeom prst="rect">
            <a:avLst/>
          </a:prstGeom>
          <a:solidFill>
            <a:srgbClr val="435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9326880" cy="164592"/>
          </a:xfrm>
          <a:prstGeom prst="rect">
            <a:avLst/>
          </a:prstGeom>
          <a:noFill/>
        </p:spPr>
        <p:txBody>
          <a:bodyPr wrap="square" lIns="0" rIns="0" tIns="0" bIns="0" anchor="t">
            <a:spAutoFit/>
          </a:bodyPr>
          <a:lstStyle/>
          <a:p>
            <a:pPr algn="l">
              <a:spcBef>
                <a:spcPts val="0"/>
              </a:spcBef>
              <a:spcAft>
                <a:spcPts val="300"/>
              </a:spcAft>
            </a:pPr>
            <a:r>
              <a:rPr sz="850" b="0">
                <a:solidFill>
                  <a:srgbClr val="A8BDB3"/>
                </a:solidFill>
                <a:latin typeface="Arial"/>
              </a:rPr>
              <a:t>Quellen: [Büro 2–4; Pritzker 9] · U02: Nutzerdatei</a:t>
            </a:r>
          </a:p>
        </p:txBody>
      </p:sp>
      <p:sp>
        <p:nvSpPr>
          <p:cNvPr id="6" name="TextBox 5"/>
          <p:cNvSpPr txBox="1"/>
          <p:nvPr/>
        </p:nvSpPr>
        <p:spPr>
          <a:xfrm>
            <a:off x="9966960" y="6419088"/>
            <a:ext cx="1719072" cy="228600"/>
          </a:xfrm>
          <a:prstGeom prst="rect">
            <a:avLst/>
          </a:prstGeom>
          <a:noFill/>
        </p:spPr>
        <p:txBody>
          <a:bodyPr wrap="square" lIns="0" rIns="0" tIns="0" bIns="0" anchor="t">
            <a:spAutoFit/>
          </a:bodyPr>
          <a:lstStyle/>
          <a:p>
            <a:pPr algn="r">
              <a:spcBef>
                <a:spcPts val="0"/>
              </a:spcBef>
              <a:spcAft>
                <a:spcPts val="300"/>
              </a:spcAft>
            </a:pPr>
            <a:r>
              <a:rPr sz="1000" b="0">
                <a:solidFill>
                  <a:srgbClr val="A8BDB3"/>
                </a:solidFill>
                <a:latin typeface="Arial"/>
              </a:rPr>
              <a:t>Luca Ingui · 03</a:t>
            </a:r>
          </a:p>
        </p:txBody>
      </p:sp>
      <p:sp>
        <p:nvSpPr>
          <p:cNvPr id="7" name="TextBox 6"/>
          <p:cNvSpPr txBox="1"/>
          <p:nvPr/>
        </p:nvSpPr>
        <p:spPr>
          <a:xfrm>
            <a:off x="502920" y="1426464"/>
            <a:ext cx="6492240" cy="438912"/>
          </a:xfrm>
          <a:prstGeom prst="rect">
            <a:avLst/>
          </a:prstGeom>
          <a:noFill/>
        </p:spPr>
        <p:txBody>
          <a:bodyPr wrap="square" lIns="0" rIns="0" tIns="0" bIns="0" anchor="t">
            <a:spAutoFit/>
          </a:bodyPr>
          <a:lstStyle/>
          <a:p>
            <a:pPr algn="l">
              <a:spcBef>
                <a:spcPts val="0"/>
              </a:spcBef>
              <a:spcAft>
                <a:spcPts val="300"/>
              </a:spcAft>
            </a:pPr>
            <a:r>
              <a:rPr sz="2300" b="0">
                <a:solidFill>
                  <a:srgbClr val="D29A74"/>
                </a:solidFill>
                <a:latin typeface="Georgia"/>
              </a:rPr>
              <a:t>1931–2022 · Ōita, Kyūshū</a:t>
            </a:r>
          </a:p>
        </p:txBody>
      </p:sp>
      <p:sp>
        <p:nvSpPr>
          <p:cNvPr id="8" name="TextBox 7"/>
          <p:cNvSpPr txBox="1"/>
          <p:nvPr/>
        </p:nvSpPr>
        <p:spPr>
          <a:xfrm>
            <a:off x="502920" y="2176272"/>
            <a:ext cx="1280160" cy="393192"/>
          </a:xfrm>
          <a:prstGeom prst="rect">
            <a:avLst/>
          </a:prstGeom>
          <a:noFill/>
        </p:spPr>
        <p:txBody>
          <a:bodyPr wrap="square" lIns="0" rIns="0" tIns="0" bIns="0" anchor="t">
            <a:spAutoFit/>
          </a:bodyPr>
          <a:lstStyle/>
          <a:p>
            <a:pPr algn="l">
              <a:spcBef>
                <a:spcPts val="0"/>
              </a:spcBef>
              <a:spcAft>
                <a:spcPts val="300"/>
              </a:spcAft>
            </a:pPr>
            <a:r>
              <a:rPr sz="2200" b="0">
                <a:solidFill>
                  <a:srgbClr val="F4F1E6"/>
                </a:solidFill>
                <a:latin typeface="Georgia"/>
              </a:rPr>
              <a:t>1954</a:t>
            </a:r>
          </a:p>
        </p:txBody>
      </p:sp>
      <p:sp>
        <p:nvSpPr>
          <p:cNvPr id="9" name="TextBox 8"/>
          <p:cNvSpPr txBox="1"/>
          <p:nvPr/>
        </p:nvSpPr>
        <p:spPr>
          <a:xfrm>
            <a:off x="1874519" y="2212848"/>
            <a:ext cx="5193792" cy="429768"/>
          </a:xfrm>
          <a:prstGeom prst="rect">
            <a:avLst/>
          </a:prstGeom>
          <a:noFill/>
        </p:spPr>
        <p:txBody>
          <a:bodyPr wrap="square" lIns="0" rIns="0" tIns="0" bIns="0" anchor="t">
            <a:spAutoFit/>
          </a:bodyPr>
          <a:lstStyle/>
          <a:p>
            <a:pPr algn="l">
              <a:spcBef>
                <a:spcPts val="0"/>
              </a:spcBef>
              <a:spcAft>
                <a:spcPts val="300"/>
              </a:spcAft>
            </a:pPr>
            <a:r>
              <a:rPr sz="1800" b="0">
                <a:solidFill>
                  <a:srgbClr val="A8BDB3"/>
                </a:solidFill>
                <a:latin typeface="Arial"/>
              </a:rPr>
              <a:t>Architekturstudium, Universität Tokio</a:t>
            </a:r>
          </a:p>
        </p:txBody>
      </p:sp>
      <p:sp>
        <p:nvSpPr>
          <p:cNvPr id="10" name="TextBox 9"/>
          <p:cNvSpPr txBox="1"/>
          <p:nvPr/>
        </p:nvSpPr>
        <p:spPr>
          <a:xfrm>
            <a:off x="502920" y="2935224"/>
            <a:ext cx="1280160" cy="393192"/>
          </a:xfrm>
          <a:prstGeom prst="rect">
            <a:avLst/>
          </a:prstGeom>
          <a:noFill/>
        </p:spPr>
        <p:txBody>
          <a:bodyPr wrap="square" lIns="0" rIns="0" tIns="0" bIns="0" anchor="t">
            <a:spAutoFit/>
          </a:bodyPr>
          <a:lstStyle/>
          <a:p>
            <a:pPr algn="l">
              <a:spcBef>
                <a:spcPts val="0"/>
              </a:spcBef>
              <a:spcAft>
                <a:spcPts val="300"/>
              </a:spcAft>
            </a:pPr>
            <a:r>
              <a:rPr sz="2200" b="0">
                <a:solidFill>
                  <a:srgbClr val="F4F1E6"/>
                </a:solidFill>
                <a:latin typeface="Georgia"/>
              </a:rPr>
              <a:t>1963</a:t>
            </a:r>
          </a:p>
        </p:txBody>
      </p:sp>
      <p:sp>
        <p:nvSpPr>
          <p:cNvPr id="11" name="TextBox 10"/>
          <p:cNvSpPr txBox="1"/>
          <p:nvPr/>
        </p:nvSpPr>
        <p:spPr>
          <a:xfrm>
            <a:off x="1874519" y="2971800"/>
            <a:ext cx="5193792" cy="429768"/>
          </a:xfrm>
          <a:prstGeom prst="rect">
            <a:avLst/>
          </a:prstGeom>
          <a:noFill/>
        </p:spPr>
        <p:txBody>
          <a:bodyPr wrap="square" lIns="0" rIns="0" tIns="0" bIns="0" anchor="t">
            <a:spAutoFit/>
          </a:bodyPr>
          <a:lstStyle/>
          <a:p>
            <a:pPr algn="l">
              <a:spcBef>
                <a:spcPts val="0"/>
              </a:spcBef>
              <a:spcAft>
                <a:spcPts val="300"/>
              </a:spcAft>
            </a:pPr>
            <a:r>
              <a:rPr sz="1800" b="0">
                <a:solidFill>
                  <a:srgbClr val="A8BDB3"/>
                </a:solidFill>
                <a:latin typeface="Arial"/>
              </a:rPr>
              <a:t>Gründung des eigenen Büros</a:t>
            </a:r>
          </a:p>
        </p:txBody>
      </p:sp>
      <p:sp>
        <p:nvSpPr>
          <p:cNvPr id="12" name="TextBox 11"/>
          <p:cNvSpPr txBox="1"/>
          <p:nvPr/>
        </p:nvSpPr>
        <p:spPr>
          <a:xfrm>
            <a:off x="502920" y="3694176"/>
            <a:ext cx="1280160" cy="393192"/>
          </a:xfrm>
          <a:prstGeom prst="rect">
            <a:avLst/>
          </a:prstGeom>
          <a:noFill/>
        </p:spPr>
        <p:txBody>
          <a:bodyPr wrap="square" lIns="0" rIns="0" tIns="0" bIns="0" anchor="t">
            <a:spAutoFit/>
          </a:bodyPr>
          <a:lstStyle/>
          <a:p>
            <a:pPr algn="l">
              <a:spcBef>
                <a:spcPts val="0"/>
              </a:spcBef>
              <a:spcAft>
                <a:spcPts val="300"/>
              </a:spcAft>
            </a:pPr>
            <a:r>
              <a:rPr sz="2200" b="0">
                <a:solidFill>
                  <a:srgbClr val="F4F1E6"/>
                </a:solidFill>
                <a:latin typeface="Georgia"/>
              </a:rPr>
              <a:t>2019</a:t>
            </a:r>
          </a:p>
        </p:txBody>
      </p:sp>
      <p:sp>
        <p:nvSpPr>
          <p:cNvPr id="13" name="TextBox 12"/>
          <p:cNvSpPr txBox="1"/>
          <p:nvPr/>
        </p:nvSpPr>
        <p:spPr>
          <a:xfrm>
            <a:off x="1874519" y="3730752"/>
            <a:ext cx="5193792" cy="429768"/>
          </a:xfrm>
          <a:prstGeom prst="rect">
            <a:avLst/>
          </a:prstGeom>
          <a:noFill/>
        </p:spPr>
        <p:txBody>
          <a:bodyPr wrap="square" lIns="0" rIns="0" tIns="0" bIns="0" anchor="t">
            <a:spAutoFit/>
          </a:bodyPr>
          <a:lstStyle/>
          <a:p>
            <a:pPr algn="l">
              <a:spcBef>
                <a:spcPts val="0"/>
              </a:spcBef>
              <a:spcAft>
                <a:spcPts val="300"/>
              </a:spcAft>
            </a:pPr>
            <a:r>
              <a:rPr sz="1800" b="0">
                <a:solidFill>
                  <a:srgbClr val="A8BDB3"/>
                </a:solidFill>
                <a:latin typeface="Arial"/>
              </a:rPr>
              <a:t>Pritzker-Preis</a:t>
            </a:r>
          </a:p>
        </p:txBody>
      </p:sp>
      <p:sp>
        <p:nvSpPr>
          <p:cNvPr id="14" name="TextBox 13"/>
          <p:cNvSpPr txBox="1"/>
          <p:nvPr/>
        </p:nvSpPr>
        <p:spPr>
          <a:xfrm>
            <a:off x="502920" y="4846320"/>
            <a:ext cx="6492240" cy="365760"/>
          </a:xfrm>
          <a:prstGeom prst="rect">
            <a:avLst/>
          </a:prstGeom>
          <a:noFill/>
        </p:spPr>
        <p:txBody>
          <a:bodyPr wrap="square" lIns="0" rIns="0" tIns="0" bIns="0" anchor="t">
            <a:spAutoFit/>
          </a:bodyPr>
          <a:lstStyle/>
          <a:p>
            <a:pPr algn="l">
              <a:spcBef>
                <a:spcPts val="0"/>
              </a:spcBef>
              <a:spcAft>
                <a:spcPts val="300"/>
              </a:spcAft>
            </a:pPr>
            <a:r>
              <a:rPr sz="1800" b="0">
                <a:solidFill>
                  <a:srgbClr val="D29A74"/>
                </a:solidFill>
                <a:latin typeface="Arial"/>
              </a:rPr>
              <a:t>Frühe öffentliche Bauten</a:t>
            </a:r>
          </a:p>
        </p:txBody>
      </p:sp>
      <p:sp>
        <p:nvSpPr>
          <p:cNvPr id="15" name="TextBox 14"/>
          <p:cNvSpPr txBox="1"/>
          <p:nvPr/>
        </p:nvSpPr>
        <p:spPr>
          <a:xfrm>
            <a:off x="502920" y="5376672"/>
            <a:ext cx="6446520" cy="640080"/>
          </a:xfrm>
          <a:prstGeom prst="rect">
            <a:avLst/>
          </a:prstGeom>
          <a:noFill/>
        </p:spPr>
        <p:txBody>
          <a:bodyPr wrap="square" lIns="0" rIns="0" tIns="0" bIns="0" anchor="t">
            <a:spAutoFit/>
          </a:bodyPr>
          <a:lstStyle/>
          <a:p>
            <a:pPr algn="l">
              <a:spcBef>
                <a:spcPts val="0"/>
              </a:spcBef>
              <a:spcAft>
                <a:spcPts val="300"/>
              </a:spcAft>
            </a:pPr>
            <a:r>
              <a:rPr sz="1600" b="0">
                <a:solidFill>
                  <a:srgbClr val="F4F1E6"/>
                </a:solidFill>
                <a:latin typeface="Arial"/>
              </a:rPr>
              <a:t>Ōita Prefectural Library · 1962–1966</a:t>
            </a:r>
          </a:p>
          <a:p>
            <a:pPr algn="l">
              <a:spcBef>
                <a:spcPts val="0"/>
              </a:spcBef>
              <a:spcAft>
                <a:spcPts val="300"/>
              </a:spcAft>
            </a:pPr>
            <a:r>
              <a:rPr sz="1600" b="0">
                <a:solidFill>
                  <a:srgbClr val="F4F1E6"/>
                </a:solidFill>
                <a:latin typeface="Arial"/>
              </a:rPr>
              <a:t>Museum of Modern Art, Gunma · 1971–1974</a:t>
            </a:r>
          </a:p>
        </p:txBody>
      </p:sp>
      <p:pic>
        <p:nvPicPr>
          <p:cNvPr id="16" name="U02 · Originalabbildung" descr="U02.jpg"/>
          <p:cNvPicPr>
            <a:picLocks noChangeAspect="1"/>
          </p:cNvPicPr>
          <p:nvPr/>
        </p:nvPicPr>
        <p:blipFill>
          <a:blip r:embed="rId2"/>
          <a:stretch>
            <a:fillRect/>
          </a:stretch>
        </p:blipFill>
        <p:spPr>
          <a:xfrm>
            <a:off x="7772400" y="1289304"/>
            <a:ext cx="3774643" cy="471830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623"/>
        </a:solidFill>
        <a:effectLst/>
      </p:bgPr>
    </p:bg>
    <p:spTree>
      <p:nvGrpSpPr>
        <p:cNvPr id="1" name=""/>
        <p:cNvGrpSpPr/>
        <p:nvPr/>
      </p:nvGrpSpPr>
      <p:grpSpPr/>
      <p:sp>
        <p:nvSpPr>
          <p:cNvPr id="2" name="TextBox 1"/>
          <p:cNvSpPr txBox="1"/>
          <p:nvPr/>
        </p:nvSpPr>
        <p:spPr>
          <a:xfrm>
            <a:off x="502920" y="274320"/>
            <a:ext cx="10972800" cy="201168"/>
          </a:xfrm>
          <a:prstGeom prst="rect">
            <a:avLst/>
          </a:prstGeom>
          <a:noFill/>
        </p:spPr>
        <p:txBody>
          <a:bodyPr wrap="square" lIns="0" rIns="0" tIns="0" bIns="0" anchor="t">
            <a:spAutoFit/>
          </a:bodyPr>
          <a:lstStyle/>
          <a:p>
            <a:pPr algn="l">
              <a:spcBef>
                <a:spcPts val="0"/>
              </a:spcBef>
              <a:spcAft>
                <a:spcPts val="300"/>
              </a:spcAft>
            </a:pPr>
            <a:r>
              <a:rPr sz="1000" b="0">
                <a:solidFill>
                  <a:srgbClr val="D29A74"/>
                </a:solidFill>
                <a:latin typeface="Courier New"/>
              </a:rPr>
              <a:t>03 / ORT UND KONTEXT</a:t>
            </a:r>
          </a:p>
        </p:txBody>
      </p:sp>
      <p:sp>
        <p:nvSpPr>
          <p:cNvPr id="3" name="TextBox 2"/>
          <p:cNvSpPr txBox="1"/>
          <p:nvPr/>
        </p:nvSpPr>
        <p:spPr>
          <a:xfrm>
            <a:off x="502920" y="640080"/>
            <a:ext cx="11173968" cy="603504"/>
          </a:xfrm>
          <a:prstGeom prst="rect">
            <a:avLst/>
          </a:prstGeom>
          <a:noFill/>
        </p:spPr>
        <p:txBody>
          <a:bodyPr wrap="square" lIns="0" rIns="0" tIns="0" bIns="0" anchor="t">
            <a:spAutoFit/>
          </a:bodyPr>
          <a:lstStyle/>
          <a:p>
            <a:pPr algn="l">
              <a:spcBef>
                <a:spcPts val="0"/>
              </a:spcBef>
              <a:spcAft>
                <a:spcPts val="300"/>
              </a:spcAft>
            </a:pPr>
            <a:r>
              <a:rPr sz="3200" b="0">
                <a:solidFill>
                  <a:srgbClr val="F4F1E6"/>
                </a:solidFill>
                <a:latin typeface="Georgia"/>
              </a:rPr>
              <a:t>Kulturzentrum am Park</a:t>
            </a:r>
          </a:p>
        </p:txBody>
      </p:sp>
      <p:sp>
        <p:nvSpPr>
          <p:cNvPr id="4" name="Rectangle 3"/>
          <p:cNvSpPr/>
          <p:nvPr/>
        </p:nvSpPr>
        <p:spPr>
          <a:xfrm>
            <a:off x="502920" y="6355080"/>
            <a:ext cx="11183112" cy="10972"/>
          </a:xfrm>
          <a:prstGeom prst="rect">
            <a:avLst/>
          </a:prstGeom>
          <a:solidFill>
            <a:srgbClr val="435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9326880" cy="164592"/>
          </a:xfrm>
          <a:prstGeom prst="rect">
            <a:avLst/>
          </a:prstGeom>
          <a:noFill/>
        </p:spPr>
        <p:txBody>
          <a:bodyPr wrap="square" lIns="0" rIns="0" tIns="0" bIns="0" anchor="t">
            <a:spAutoFit/>
          </a:bodyPr>
          <a:lstStyle/>
          <a:p>
            <a:pPr algn="l">
              <a:spcBef>
                <a:spcPts val="0"/>
              </a:spcBef>
              <a:spcAft>
                <a:spcPts val="300"/>
              </a:spcAft>
            </a:pPr>
            <a:r>
              <a:rPr sz="850" b="0">
                <a:solidFill>
                  <a:srgbClr val="A8BDB3"/>
                </a:solidFill>
                <a:latin typeface="Arial"/>
              </a:rPr>
              <a:t>Quellen: [BCS 5; Stadt 8] · D01 / U03</a:t>
            </a:r>
          </a:p>
        </p:txBody>
      </p:sp>
      <p:sp>
        <p:nvSpPr>
          <p:cNvPr id="6" name="TextBox 5"/>
          <p:cNvSpPr txBox="1"/>
          <p:nvPr/>
        </p:nvSpPr>
        <p:spPr>
          <a:xfrm>
            <a:off x="9966960" y="6419088"/>
            <a:ext cx="1719072" cy="228600"/>
          </a:xfrm>
          <a:prstGeom prst="rect">
            <a:avLst/>
          </a:prstGeom>
          <a:noFill/>
        </p:spPr>
        <p:txBody>
          <a:bodyPr wrap="square" lIns="0" rIns="0" tIns="0" bIns="0" anchor="t">
            <a:spAutoFit/>
          </a:bodyPr>
          <a:lstStyle/>
          <a:p>
            <a:pPr algn="r">
              <a:spcBef>
                <a:spcPts val="0"/>
              </a:spcBef>
              <a:spcAft>
                <a:spcPts val="300"/>
              </a:spcAft>
            </a:pPr>
            <a:r>
              <a:rPr sz="1000" b="0">
                <a:solidFill>
                  <a:srgbClr val="A8BDB3"/>
                </a:solidFill>
                <a:latin typeface="Arial"/>
              </a:rPr>
              <a:t>Luca Ingui · 04</a:t>
            </a:r>
          </a:p>
        </p:txBody>
      </p:sp>
      <p:pic>
        <p:nvPicPr>
          <p:cNvPr id="7" name="D01 · Originalabbildung" descr="D01.jpg"/>
          <p:cNvPicPr>
            <a:picLocks noChangeAspect="1"/>
          </p:cNvPicPr>
          <p:nvPr/>
        </p:nvPicPr>
        <p:blipFill>
          <a:blip r:embed="rId2"/>
          <a:stretch>
            <a:fillRect/>
          </a:stretch>
        </p:blipFill>
        <p:spPr>
          <a:xfrm>
            <a:off x="914400" y="1481328"/>
            <a:ext cx="5579485" cy="4206240"/>
          </a:xfrm>
          <a:prstGeom prst="rect">
            <a:avLst/>
          </a:prstGeom>
        </p:spPr>
      </p:pic>
      <p:pic>
        <p:nvPicPr>
          <p:cNvPr id="8" name="U03 · Originalabbildung" descr="U03.jpg"/>
          <p:cNvPicPr>
            <a:picLocks noChangeAspect="1"/>
          </p:cNvPicPr>
          <p:nvPr/>
        </p:nvPicPr>
        <p:blipFill>
          <a:blip r:embed="rId3"/>
          <a:stretch>
            <a:fillRect/>
          </a:stretch>
        </p:blipFill>
        <p:spPr>
          <a:xfrm>
            <a:off x="7818120" y="1463040"/>
            <a:ext cx="3562502" cy="4453128"/>
          </a:xfrm>
          <a:prstGeom prst="rect">
            <a:avLst/>
          </a:prstGeom>
        </p:spPr>
      </p:pic>
      <p:sp>
        <p:nvSpPr>
          <p:cNvPr id="9" name="TextBox 8"/>
          <p:cNvSpPr txBox="1"/>
          <p:nvPr/>
        </p:nvSpPr>
        <p:spPr>
          <a:xfrm>
            <a:off x="502920" y="5806440"/>
            <a:ext cx="3840480"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Lageplan · BCS 1976</a:t>
            </a:r>
          </a:p>
        </p:txBody>
      </p:sp>
      <p:sp>
        <p:nvSpPr>
          <p:cNvPr id="10" name="TextBox 9"/>
          <p:cNvSpPr txBox="1"/>
          <p:nvPr/>
        </p:nvSpPr>
        <p:spPr>
          <a:xfrm>
            <a:off x="502920" y="6035040"/>
            <a:ext cx="6858000" cy="256032"/>
          </a:xfrm>
          <a:prstGeom prst="rect">
            <a:avLst/>
          </a:prstGeom>
          <a:noFill/>
        </p:spPr>
        <p:txBody>
          <a:bodyPr wrap="square" lIns="0" rIns="0" tIns="0" bIns="0" anchor="t">
            <a:spAutoFit/>
          </a:bodyPr>
          <a:lstStyle/>
          <a:p>
            <a:pPr algn="l">
              <a:spcBef>
                <a:spcPts val="0"/>
              </a:spcBef>
              <a:spcAft>
                <a:spcPts val="300"/>
              </a:spcAft>
            </a:pPr>
            <a:r>
              <a:rPr sz="1600" b="0">
                <a:solidFill>
                  <a:srgbClr val="D29A74"/>
                </a:solidFill>
                <a:latin typeface="Arial"/>
              </a:rPr>
              <a:t>Katsuyama Park · Nähe Kokura Castle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2623"/>
        </a:solidFill>
        <a:effectLst/>
      </p:bgPr>
    </p:bg>
    <p:spTree>
      <p:nvGrpSpPr>
        <p:cNvPr id="1" name=""/>
        <p:cNvGrpSpPr/>
        <p:nvPr/>
      </p:nvGrpSpPr>
      <p:grpSpPr/>
      <p:sp>
        <p:nvSpPr>
          <p:cNvPr id="2" name="TextBox 1"/>
          <p:cNvSpPr txBox="1"/>
          <p:nvPr/>
        </p:nvSpPr>
        <p:spPr>
          <a:xfrm>
            <a:off x="502920" y="274320"/>
            <a:ext cx="10972800" cy="201168"/>
          </a:xfrm>
          <a:prstGeom prst="rect">
            <a:avLst/>
          </a:prstGeom>
          <a:noFill/>
        </p:spPr>
        <p:txBody>
          <a:bodyPr wrap="square" lIns="0" rIns="0" tIns="0" bIns="0" anchor="t">
            <a:spAutoFit/>
          </a:bodyPr>
          <a:lstStyle/>
          <a:p>
            <a:pPr algn="l">
              <a:spcBef>
                <a:spcPts val="0"/>
              </a:spcBef>
              <a:spcAft>
                <a:spcPts val="300"/>
              </a:spcAft>
            </a:pPr>
            <a:r>
              <a:rPr sz="1000" b="0">
                <a:solidFill>
                  <a:srgbClr val="D29A74"/>
                </a:solidFill>
                <a:latin typeface="Courier New"/>
              </a:rPr>
              <a:t>04 / FORM UND MASSE</a:t>
            </a:r>
          </a:p>
        </p:txBody>
      </p:sp>
      <p:sp>
        <p:nvSpPr>
          <p:cNvPr id="3" name="TextBox 2"/>
          <p:cNvSpPr txBox="1"/>
          <p:nvPr/>
        </p:nvSpPr>
        <p:spPr>
          <a:xfrm>
            <a:off x="502920" y="640080"/>
            <a:ext cx="11173968" cy="603504"/>
          </a:xfrm>
          <a:prstGeom prst="rect">
            <a:avLst/>
          </a:prstGeom>
          <a:noFill/>
        </p:spPr>
        <p:txBody>
          <a:bodyPr wrap="square" lIns="0" rIns="0" tIns="0" bIns="0" anchor="t">
            <a:spAutoFit/>
          </a:bodyPr>
          <a:lstStyle/>
          <a:p>
            <a:pPr algn="l">
              <a:spcBef>
                <a:spcPts val="0"/>
              </a:spcBef>
              <a:spcAft>
                <a:spcPts val="300"/>
              </a:spcAft>
            </a:pPr>
            <a:r>
              <a:rPr sz="3200" b="0">
                <a:solidFill>
                  <a:srgbClr val="F4F1E6"/>
                </a:solidFill>
                <a:latin typeface="Georgia"/>
              </a:rPr>
              <a:t>Zwei J-förmige Gebäudebänder</a:t>
            </a:r>
          </a:p>
        </p:txBody>
      </p:sp>
      <p:sp>
        <p:nvSpPr>
          <p:cNvPr id="4" name="Rectangle 3"/>
          <p:cNvSpPr/>
          <p:nvPr/>
        </p:nvSpPr>
        <p:spPr>
          <a:xfrm>
            <a:off x="502920" y="6355080"/>
            <a:ext cx="11183112" cy="10972"/>
          </a:xfrm>
          <a:prstGeom prst="rect">
            <a:avLst/>
          </a:prstGeom>
          <a:solidFill>
            <a:srgbClr val="435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9326880" cy="164592"/>
          </a:xfrm>
          <a:prstGeom prst="rect">
            <a:avLst/>
          </a:prstGeom>
          <a:noFill/>
        </p:spPr>
        <p:txBody>
          <a:bodyPr wrap="square" lIns="0" rIns="0" tIns="0" bIns="0" anchor="t">
            <a:spAutoFit/>
          </a:bodyPr>
          <a:lstStyle/>
          <a:p>
            <a:pPr algn="l">
              <a:spcBef>
                <a:spcPts val="0"/>
              </a:spcBef>
              <a:spcAft>
                <a:spcPts val="300"/>
              </a:spcAft>
            </a:pPr>
            <a:r>
              <a:rPr sz="850" b="0">
                <a:solidFill>
                  <a:srgbClr val="A8BDB3"/>
                </a:solidFill>
                <a:latin typeface="Arial"/>
              </a:rPr>
              <a:t>Quellen: [BCS 5] · D02 / U02</a:t>
            </a:r>
          </a:p>
        </p:txBody>
      </p:sp>
      <p:sp>
        <p:nvSpPr>
          <p:cNvPr id="6" name="TextBox 5"/>
          <p:cNvSpPr txBox="1"/>
          <p:nvPr/>
        </p:nvSpPr>
        <p:spPr>
          <a:xfrm>
            <a:off x="9966960" y="6419088"/>
            <a:ext cx="1719072" cy="228600"/>
          </a:xfrm>
          <a:prstGeom prst="rect">
            <a:avLst/>
          </a:prstGeom>
          <a:noFill/>
        </p:spPr>
        <p:txBody>
          <a:bodyPr wrap="square" lIns="0" rIns="0" tIns="0" bIns="0" anchor="t">
            <a:spAutoFit/>
          </a:bodyPr>
          <a:lstStyle/>
          <a:p>
            <a:pPr algn="r">
              <a:spcBef>
                <a:spcPts val="0"/>
              </a:spcBef>
              <a:spcAft>
                <a:spcPts val="300"/>
              </a:spcAft>
            </a:pPr>
            <a:r>
              <a:rPr sz="1000" b="0">
                <a:solidFill>
                  <a:srgbClr val="A8BDB3"/>
                </a:solidFill>
                <a:latin typeface="Arial"/>
              </a:rPr>
              <a:t>Luca Ingui · 05</a:t>
            </a:r>
          </a:p>
        </p:txBody>
      </p:sp>
      <p:pic>
        <p:nvPicPr>
          <p:cNvPr id="7" name="D02 · Originalabbildung" descr="D02.jpg"/>
          <p:cNvPicPr>
            <a:picLocks noChangeAspect="1"/>
          </p:cNvPicPr>
          <p:nvPr/>
        </p:nvPicPr>
        <p:blipFill>
          <a:blip r:embed="rId2"/>
          <a:stretch>
            <a:fillRect/>
          </a:stretch>
        </p:blipFill>
        <p:spPr>
          <a:xfrm>
            <a:off x="502920" y="1600200"/>
            <a:ext cx="6949440" cy="3974971"/>
          </a:xfrm>
          <a:prstGeom prst="rect">
            <a:avLst/>
          </a:prstGeom>
        </p:spPr>
      </p:pic>
      <p:pic>
        <p:nvPicPr>
          <p:cNvPr id="8" name="U02 · Originalabbildung" descr="U02.jpg"/>
          <p:cNvPicPr>
            <a:picLocks noChangeAspect="1"/>
          </p:cNvPicPr>
          <p:nvPr/>
        </p:nvPicPr>
        <p:blipFill>
          <a:blip r:embed="rId3"/>
          <a:stretch>
            <a:fillRect/>
          </a:stretch>
        </p:blipFill>
        <p:spPr>
          <a:xfrm>
            <a:off x="8357616" y="1600200"/>
            <a:ext cx="3167481" cy="3959352"/>
          </a:xfrm>
          <a:prstGeom prst="rect">
            <a:avLst/>
          </a:prstGeom>
        </p:spPr>
      </p:pic>
      <p:sp>
        <p:nvSpPr>
          <p:cNvPr id="9" name="TextBox 8"/>
          <p:cNvSpPr txBox="1"/>
          <p:nvPr/>
        </p:nvSpPr>
        <p:spPr>
          <a:xfrm>
            <a:off x="502920" y="5650992"/>
            <a:ext cx="6949440"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Originalgrundriss · BCS 1976</a:t>
            </a:r>
          </a:p>
        </p:txBody>
      </p:sp>
      <p:sp>
        <p:nvSpPr>
          <p:cNvPr id="10" name="TextBox 9"/>
          <p:cNvSpPr txBox="1"/>
          <p:nvPr/>
        </p:nvSpPr>
        <p:spPr>
          <a:xfrm>
            <a:off x="502920" y="5961888"/>
            <a:ext cx="2057400" cy="329184"/>
          </a:xfrm>
          <a:prstGeom prst="rect">
            <a:avLst/>
          </a:prstGeom>
          <a:noFill/>
        </p:spPr>
        <p:txBody>
          <a:bodyPr wrap="square" lIns="0" rIns="0" tIns="0" bIns="0" anchor="t">
            <a:spAutoFit/>
          </a:bodyPr>
          <a:lstStyle/>
          <a:p>
            <a:pPr algn="l">
              <a:spcBef>
                <a:spcPts val="0"/>
              </a:spcBef>
              <a:spcAft>
                <a:spcPts val="300"/>
              </a:spcAft>
            </a:pPr>
            <a:r>
              <a:rPr sz="2400" b="0">
                <a:solidFill>
                  <a:srgbClr val="D29A74"/>
                </a:solidFill>
                <a:latin typeface="Georgia"/>
              </a:rPr>
              <a:t>≈ 11 m</a:t>
            </a:r>
          </a:p>
        </p:txBody>
      </p:sp>
      <p:sp>
        <p:nvSpPr>
          <p:cNvPr id="11" name="TextBox 10"/>
          <p:cNvSpPr txBox="1"/>
          <p:nvPr/>
        </p:nvSpPr>
        <p:spPr>
          <a:xfrm>
            <a:off x="2468880" y="6007608"/>
            <a:ext cx="4663440" cy="292608"/>
          </a:xfrm>
          <a:prstGeom prst="rect">
            <a:avLst/>
          </a:prstGeom>
          <a:noFill/>
        </p:spPr>
        <p:txBody>
          <a:bodyPr wrap="square" lIns="0" rIns="0" tIns="0" bIns="0" anchor="t">
            <a:spAutoFit/>
          </a:bodyPr>
          <a:lstStyle/>
          <a:p>
            <a:pPr algn="l">
              <a:spcBef>
                <a:spcPts val="0"/>
              </a:spcBef>
              <a:spcAft>
                <a:spcPts val="300"/>
              </a:spcAft>
            </a:pPr>
            <a:r>
              <a:rPr sz="1700" b="0">
                <a:solidFill>
                  <a:srgbClr val="F4F1E6"/>
                </a:solidFill>
                <a:latin typeface="Arial"/>
              </a:rPr>
              <a:t>Breite je Gebäudeband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2623"/>
        </a:solidFill>
        <a:effectLst/>
      </p:bgPr>
    </p:bg>
    <p:spTree>
      <p:nvGrpSpPr>
        <p:cNvPr id="1" name=""/>
        <p:cNvGrpSpPr/>
        <p:nvPr/>
      </p:nvGrpSpPr>
      <p:grpSpPr/>
      <p:sp>
        <p:nvSpPr>
          <p:cNvPr id="2" name="TextBox 1"/>
          <p:cNvSpPr txBox="1"/>
          <p:nvPr/>
        </p:nvSpPr>
        <p:spPr>
          <a:xfrm>
            <a:off x="502920" y="274320"/>
            <a:ext cx="10972800" cy="201168"/>
          </a:xfrm>
          <a:prstGeom prst="rect">
            <a:avLst/>
          </a:prstGeom>
          <a:noFill/>
        </p:spPr>
        <p:txBody>
          <a:bodyPr wrap="square" lIns="0" rIns="0" tIns="0" bIns="0" anchor="t">
            <a:spAutoFit/>
          </a:bodyPr>
          <a:lstStyle/>
          <a:p>
            <a:pPr algn="l">
              <a:spcBef>
                <a:spcPts val="0"/>
              </a:spcBef>
              <a:spcAft>
                <a:spcPts val="300"/>
              </a:spcAft>
            </a:pPr>
            <a:r>
              <a:rPr sz="1000" b="0">
                <a:solidFill>
                  <a:srgbClr val="D29A74"/>
                </a:solidFill>
                <a:latin typeface="Courier New"/>
              </a:rPr>
              <a:t>05 / ORGANISATION</a:t>
            </a:r>
          </a:p>
        </p:txBody>
      </p:sp>
      <p:sp>
        <p:nvSpPr>
          <p:cNvPr id="3" name="TextBox 2"/>
          <p:cNvSpPr txBox="1"/>
          <p:nvPr/>
        </p:nvSpPr>
        <p:spPr>
          <a:xfrm>
            <a:off x="502920" y="640080"/>
            <a:ext cx="11173968" cy="603504"/>
          </a:xfrm>
          <a:prstGeom prst="rect">
            <a:avLst/>
          </a:prstGeom>
          <a:noFill/>
        </p:spPr>
        <p:txBody>
          <a:bodyPr wrap="square" lIns="0" rIns="0" tIns="0" bIns="0" anchor="t">
            <a:spAutoFit/>
          </a:bodyPr>
          <a:lstStyle/>
          <a:p>
            <a:pPr algn="l">
              <a:spcBef>
                <a:spcPts val="0"/>
              </a:spcBef>
              <a:spcAft>
                <a:spcPts val="300"/>
              </a:spcAft>
            </a:pPr>
            <a:r>
              <a:rPr sz="3200" b="0">
                <a:solidFill>
                  <a:srgbClr val="F4F1E6"/>
                </a:solidFill>
                <a:latin typeface="Georgia"/>
              </a:rPr>
              <a:t>Grundrisse und öffentliches Programm</a:t>
            </a:r>
          </a:p>
        </p:txBody>
      </p:sp>
      <p:sp>
        <p:nvSpPr>
          <p:cNvPr id="4" name="Rectangle 3"/>
          <p:cNvSpPr/>
          <p:nvPr/>
        </p:nvSpPr>
        <p:spPr>
          <a:xfrm>
            <a:off x="502920" y="6355080"/>
            <a:ext cx="11183112" cy="10972"/>
          </a:xfrm>
          <a:prstGeom prst="rect">
            <a:avLst/>
          </a:prstGeom>
          <a:solidFill>
            <a:srgbClr val="435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9326880" cy="164592"/>
          </a:xfrm>
          <a:prstGeom prst="rect">
            <a:avLst/>
          </a:prstGeom>
          <a:noFill/>
        </p:spPr>
        <p:txBody>
          <a:bodyPr wrap="square" lIns="0" rIns="0" tIns="0" bIns="0" anchor="t">
            <a:spAutoFit/>
          </a:bodyPr>
          <a:lstStyle/>
          <a:p>
            <a:pPr algn="l">
              <a:spcBef>
                <a:spcPts val="0"/>
              </a:spcBef>
              <a:spcAft>
                <a:spcPts val="300"/>
              </a:spcAft>
            </a:pPr>
            <a:r>
              <a:rPr sz="850" b="0">
                <a:solidFill>
                  <a:srgbClr val="A8BDB3"/>
                </a:solidFill>
                <a:latin typeface="Arial"/>
              </a:rPr>
              <a:t>Quellen: [BCS 5; Okumura 6] · U01 / D02</a:t>
            </a:r>
          </a:p>
        </p:txBody>
      </p:sp>
      <p:sp>
        <p:nvSpPr>
          <p:cNvPr id="6" name="TextBox 5"/>
          <p:cNvSpPr txBox="1"/>
          <p:nvPr/>
        </p:nvSpPr>
        <p:spPr>
          <a:xfrm>
            <a:off x="9966960" y="6419088"/>
            <a:ext cx="1719072" cy="228600"/>
          </a:xfrm>
          <a:prstGeom prst="rect">
            <a:avLst/>
          </a:prstGeom>
          <a:noFill/>
        </p:spPr>
        <p:txBody>
          <a:bodyPr wrap="square" lIns="0" rIns="0" tIns="0" bIns="0" anchor="t">
            <a:spAutoFit/>
          </a:bodyPr>
          <a:lstStyle/>
          <a:p>
            <a:pPr algn="r">
              <a:spcBef>
                <a:spcPts val="0"/>
              </a:spcBef>
              <a:spcAft>
                <a:spcPts val="300"/>
              </a:spcAft>
            </a:pPr>
            <a:r>
              <a:rPr sz="1000" b="0">
                <a:solidFill>
                  <a:srgbClr val="A8BDB3"/>
                </a:solidFill>
                <a:latin typeface="Arial"/>
              </a:rPr>
              <a:t>Luca Ingui · 06</a:t>
            </a:r>
          </a:p>
        </p:txBody>
      </p:sp>
      <p:pic>
        <p:nvPicPr>
          <p:cNvPr id="7" name="U01 · Originalabbildung" descr="U01.jpg"/>
          <p:cNvPicPr>
            <a:picLocks noChangeAspect="1"/>
          </p:cNvPicPr>
          <p:nvPr/>
        </p:nvPicPr>
        <p:blipFill>
          <a:blip r:embed="rId2"/>
          <a:stretch>
            <a:fillRect/>
          </a:stretch>
        </p:blipFill>
        <p:spPr>
          <a:xfrm>
            <a:off x="566928" y="1600200"/>
            <a:ext cx="3164653" cy="3959352"/>
          </a:xfrm>
          <a:prstGeom prst="rect">
            <a:avLst/>
          </a:prstGeom>
        </p:spPr>
      </p:pic>
      <p:pic>
        <p:nvPicPr>
          <p:cNvPr id="8" name="D02 · Originalabbildung" descr="D02.jpg"/>
          <p:cNvPicPr>
            <a:picLocks noChangeAspect="1"/>
          </p:cNvPicPr>
          <p:nvPr/>
        </p:nvPicPr>
        <p:blipFill>
          <a:blip r:embed="rId3"/>
          <a:stretch>
            <a:fillRect/>
          </a:stretch>
        </p:blipFill>
        <p:spPr>
          <a:xfrm>
            <a:off x="4471416" y="1600200"/>
            <a:ext cx="7077456" cy="4048194"/>
          </a:xfrm>
          <a:prstGeom prst="rect">
            <a:avLst/>
          </a:prstGeom>
        </p:spPr>
      </p:pic>
      <p:sp>
        <p:nvSpPr>
          <p:cNvPr id="9" name="TextBox 8"/>
          <p:cNvSpPr txBox="1"/>
          <p:nvPr/>
        </p:nvSpPr>
        <p:spPr>
          <a:xfrm>
            <a:off x="566928" y="5724144"/>
            <a:ext cx="3364992"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Zwei Grundrisse · Nutzerdatei</a:t>
            </a:r>
          </a:p>
        </p:txBody>
      </p:sp>
      <p:sp>
        <p:nvSpPr>
          <p:cNvPr id="10" name="TextBox 9"/>
          <p:cNvSpPr txBox="1"/>
          <p:nvPr/>
        </p:nvSpPr>
        <p:spPr>
          <a:xfrm>
            <a:off x="4471416" y="5724144"/>
            <a:ext cx="7077456"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Originalgrundriss · BCS 1976</a:t>
            </a:r>
          </a:p>
        </p:txBody>
      </p:sp>
      <p:sp>
        <p:nvSpPr>
          <p:cNvPr id="11" name="TextBox 10"/>
          <p:cNvSpPr txBox="1"/>
          <p:nvPr/>
        </p:nvSpPr>
        <p:spPr>
          <a:xfrm>
            <a:off x="566928" y="5998464"/>
            <a:ext cx="11064240" cy="283464"/>
          </a:xfrm>
          <a:prstGeom prst="rect">
            <a:avLst/>
          </a:prstGeom>
          <a:noFill/>
        </p:spPr>
        <p:txBody>
          <a:bodyPr wrap="square" lIns="0" rIns="0" tIns="0" bIns="0" anchor="t">
            <a:spAutoFit/>
          </a:bodyPr>
          <a:lstStyle/>
          <a:p>
            <a:pPr algn="l">
              <a:spcBef>
                <a:spcPts val="0"/>
              </a:spcBef>
              <a:spcAft>
                <a:spcPts val="300"/>
              </a:spcAft>
            </a:pPr>
            <a:r>
              <a:rPr sz="1700" b="0">
                <a:solidFill>
                  <a:srgbClr val="D29A74"/>
                </a:solidFill>
                <a:latin typeface="Arial"/>
              </a:rPr>
              <a:t>Bibliothek · Geschichtsmuseum · audiovisuelles Zentrum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623"/>
        </a:solidFill>
        <a:effectLst/>
      </p:bgPr>
    </p:bg>
    <p:spTree>
      <p:nvGrpSpPr>
        <p:cNvPr id="1" name=""/>
        <p:cNvGrpSpPr/>
        <p:nvPr/>
      </p:nvGrpSpPr>
      <p:grpSpPr/>
      <p:sp>
        <p:nvSpPr>
          <p:cNvPr id="2" name="TextBox 1"/>
          <p:cNvSpPr txBox="1"/>
          <p:nvPr/>
        </p:nvSpPr>
        <p:spPr>
          <a:xfrm>
            <a:off x="502920" y="274320"/>
            <a:ext cx="10972800" cy="201168"/>
          </a:xfrm>
          <a:prstGeom prst="rect">
            <a:avLst/>
          </a:prstGeom>
          <a:noFill/>
        </p:spPr>
        <p:txBody>
          <a:bodyPr wrap="square" lIns="0" rIns="0" tIns="0" bIns="0" anchor="t">
            <a:spAutoFit/>
          </a:bodyPr>
          <a:lstStyle/>
          <a:p>
            <a:pPr algn="l">
              <a:spcBef>
                <a:spcPts val="0"/>
              </a:spcBef>
              <a:spcAft>
                <a:spcPts val="300"/>
              </a:spcAft>
            </a:pPr>
            <a:r>
              <a:rPr sz="1000" b="0">
                <a:solidFill>
                  <a:srgbClr val="D29A74"/>
                </a:solidFill>
                <a:latin typeface="Courier New"/>
              </a:rPr>
              <a:t>06 / SCHNITT UND RAUM</a:t>
            </a:r>
          </a:p>
        </p:txBody>
      </p:sp>
      <p:sp>
        <p:nvSpPr>
          <p:cNvPr id="3" name="TextBox 2"/>
          <p:cNvSpPr txBox="1"/>
          <p:nvPr/>
        </p:nvSpPr>
        <p:spPr>
          <a:xfrm>
            <a:off x="502920" y="640080"/>
            <a:ext cx="11173968" cy="603504"/>
          </a:xfrm>
          <a:prstGeom prst="rect">
            <a:avLst/>
          </a:prstGeom>
          <a:noFill/>
        </p:spPr>
        <p:txBody>
          <a:bodyPr wrap="square" lIns="0" rIns="0" tIns="0" bIns="0" anchor="t">
            <a:spAutoFit/>
          </a:bodyPr>
          <a:lstStyle/>
          <a:p>
            <a:pPr algn="l">
              <a:spcBef>
                <a:spcPts val="0"/>
              </a:spcBef>
              <a:spcAft>
                <a:spcPts val="300"/>
              </a:spcAft>
            </a:pPr>
            <a:r>
              <a:rPr sz="3200" b="0">
                <a:solidFill>
                  <a:srgbClr val="F4F1E6"/>
                </a:solidFill>
                <a:latin typeface="Georgia"/>
              </a:rPr>
              <a:t>Geschosse unter dem Gewölbe</a:t>
            </a:r>
          </a:p>
        </p:txBody>
      </p:sp>
      <p:sp>
        <p:nvSpPr>
          <p:cNvPr id="4" name="Rectangle 3"/>
          <p:cNvSpPr/>
          <p:nvPr/>
        </p:nvSpPr>
        <p:spPr>
          <a:xfrm>
            <a:off x="502920" y="6355080"/>
            <a:ext cx="11183112" cy="10972"/>
          </a:xfrm>
          <a:prstGeom prst="rect">
            <a:avLst/>
          </a:prstGeom>
          <a:solidFill>
            <a:srgbClr val="435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9326880" cy="164592"/>
          </a:xfrm>
          <a:prstGeom prst="rect">
            <a:avLst/>
          </a:prstGeom>
          <a:noFill/>
        </p:spPr>
        <p:txBody>
          <a:bodyPr wrap="square" lIns="0" rIns="0" tIns="0" bIns="0" anchor="t">
            <a:spAutoFit/>
          </a:bodyPr>
          <a:lstStyle/>
          <a:p>
            <a:pPr algn="l">
              <a:spcBef>
                <a:spcPts val="0"/>
              </a:spcBef>
              <a:spcAft>
                <a:spcPts val="300"/>
              </a:spcAft>
            </a:pPr>
            <a:r>
              <a:rPr sz="850" b="0">
                <a:solidFill>
                  <a:srgbClr val="A8BDB3"/>
                </a:solidFill>
                <a:latin typeface="Arial"/>
              </a:rPr>
              <a:t>Quellen: [BCS 5; Okumura 6] · D03</a:t>
            </a:r>
          </a:p>
        </p:txBody>
      </p:sp>
      <p:sp>
        <p:nvSpPr>
          <p:cNvPr id="6" name="TextBox 5"/>
          <p:cNvSpPr txBox="1"/>
          <p:nvPr/>
        </p:nvSpPr>
        <p:spPr>
          <a:xfrm>
            <a:off x="9966960" y="6419088"/>
            <a:ext cx="1719072" cy="228600"/>
          </a:xfrm>
          <a:prstGeom prst="rect">
            <a:avLst/>
          </a:prstGeom>
          <a:noFill/>
        </p:spPr>
        <p:txBody>
          <a:bodyPr wrap="square" lIns="0" rIns="0" tIns="0" bIns="0" anchor="t">
            <a:spAutoFit/>
          </a:bodyPr>
          <a:lstStyle/>
          <a:p>
            <a:pPr algn="r">
              <a:spcBef>
                <a:spcPts val="0"/>
              </a:spcBef>
              <a:spcAft>
                <a:spcPts val="300"/>
              </a:spcAft>
            </a:pPr>
            <a:r>
              <a:rPr sz="1000" b="0">
                <a:solidFill>
                  <a:srgbClr val="A8BDB3"/>
                </a:solidFill>
                <a:latin typeface="Arial"/>
              </a:rPr>
              <a:t>Luca Ingui · 07</a:t>
            </a:r>
          </a:p>
        </p:txBody>
      </p:sp>
      <p:sp>
        <p:nvSpPr>
          <p:cNvPr id="7" name="TextBox 6"/>
          <p:cNvSpPr txBox="1"/>
          <p:nvPr/>
        </p:nvSpPr>
        <p:spPr>
          <a:xfrm>
            <a:off x="502920" y="1389888"/>
            <a:ext cx="10972800" cy="411480"/>
          </a:xfrm>
          <a:prstGeom prst="rect">
            <a:avLst/>
          </a:prstGeom>
          <a:noFill/>
        </p:spPr>
        <p:txBody>
          <a:bodyPr wrap="square" lIns="0" rIns="0" tIns="0" bIns="0" anchor="t">
            <a:spAutoFit/>
          </a:bodyPr>
          <a:lstStyle/>
          <a:p>
            <a:pPr algn="l">
              <a:spcBef>
                <a:spcPts val="0"/>
              </a:spcBef>
              <a:spcAft>
                <a:spcPts val="300"/>
              </a:spcAft>
            </a:pPr>
            <a:r>
              <a:rPr sz="2100" b="0">
                <a:solidFill>
                  <a:srgbClr val="D29A74"/>
                </a:solidFill>
                <a:latin typeface="Georgia"/>
              </a:rPr>
              <a:t>2 oberirdische + 2 unterirdische Geschosse</a:t>
            </a:r>
          </a:p>
        </p:txBody>
      </p:sp>
      <p:pic>
        <p:nvPicPr>
          <p:cNvPr id="8" name="D03 · Originalabbildung" descr="D03.jpg"/>
          <p:cNvPicPr>
            <a:picLocks noChangeAspect="1"/>
          </p:cNvPicPr>
          <p:nvPr/>
        </p:nvPicPr>
        <p:blipFill>
          <a:blip r:embed="rId2"/>
          <a:stretch>
            <a:fillRect/>
          </a:stretch>
        </p:blipFill>
        <p:spPr>
          <a:xfrm>
            <a:off x="502920" y="2148840"/>
            <a:ext cx="11155680" cy="3269768"/>
          </a:xfrm>
          <a:prstGeom prst="rect">
            <a:avLst/>
          </a:prstGeom>
        </p:spPr>
      </p:pic>
      <p:sp>
        <p:nvSpPr>
          <p:cNvPr id="9" name="TextBox 8"/>
          <p:cNvSpPr txBox="1"/>
          <p:nvPr/>
        </p:nvSpPr>
        <p:spPr>
          <a:xfrm>
            <a:off x="502920" y="5605272"/>
            <a:ext cx="8961120"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Originalschnitt · BCS-Dokumentation 1976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623"/>
        </a:solidFill>
        <a:effectLst/>
      </p:bgPr>
    </p:bg>
    <p:spTree>
      <p:nvGrpSpPr>
        <p:cNvPr id="1" name=""/>
        <p:cNvGrpSpPr/>
        <p:nvPr/>
      </p:nvGrpSpPr>
      <p:grpSpPr/>
      <p:sp>
        <p:nvSpPr>
          <p:cNvPr id="2" name="TextBox 1"/>
          <p:cNvSpPr txBox="1"/>
          <p:nvPr/>
        </p:nvSpPr>
        <p:spPr>
          <a:xfrm>
            <a:off x="502920" y="274320"/>
            <a:ext cx="10972800" cy="201168"/>
          </a:xfrm>
          <a:prstGeom prst="rect">
            <a:avLst/>
          </a:prstGeom>
          <a:noFill/>
        </p:spPr>
        <p:txBody>
          <a:bodyPr wrap="square" lIns="0" rIns="0" tIns="0" bIns="0" anchor="t">
            <a:spAutoFit/>
          </a:bodyPr>
          <a:lstStyle/>
          <a:p>
            <a:pPr algn="l">
              <a:spcBef>
                <a:spcPts val="0"/>
              </a:spcBef>
              <a:spcAft>
                <a:spcPts val="300"/>
              </a:spcAft>
            </a:pPr>
            <a:r>
              <a:rPr sz="1000" b="0">
                <a:solidFill>
                  <a:srgbClr val="D29A74"/>
                </a:solidFill>
                <a:latin typeface="Courier New"/>
              </a:rPr>
              <a:t>07 / KONSTRUKTION</a:t>
            </a:r>
          </a:p>
        </p:txBody>
      </p:sp>
      <p:sp>
        <p:nvSpPr>
          <p:cNvPr id="3" name="TextBox 2"/>
          <p:cNvSpPr txBox="1"/>
          <p:nvPr/>
        </p:nvSpPr>
        <p:spPr>
          <a:xfrm>
            <a:off x="502920" y="640080"/>
            <a:ext cx="11173968" cy="603504"/>
          </a:xfrm>
          <a:prstGeom prst="rect">
            <a:avLst/>
          </a:prstGeom>
          <a:noFill/>
        </p:spPr>
        <p:txBody>
          <a:bodyPr wrap="square" lIns="0" rIns="0" tIns="0" bIns="0" anchor="t">
            <a:spAutoFit/>
          </a:bodyPr>
          <a:lstStyle/>
          <a:p>
            <a:pPr algn="l">
              <a:spcBef>
                <a:spcPts val="0"/>
              </a:spcBef>
              <a:spcAft>
                <a:spcPts val="300"/>
              </a:spcAft>
            </a:pPr>
            <a:r>
              <a:rPr sz="3200" b="0">
                <a:solidFill>
                  <a:srgbClr val="F4F1E6"/>
                </a:solidFill>
                <a:latin typeface="Georgia"/>
              </a:rPr>
              <a:t>210 Elemente · 39 Typen</a:t>
            </a:r>
          </a:p>
        </p:txBody>
      </p:sp>
      <p:sp>
        <p:nvSpPr>
          <p:cNvPr id="4" name="Rectangle 3"/>
          <p:cNvSpPr/>
          <p:nvPr/>
        </p:nvSpPr>
        <p:spPr>
          <a:xfrm>
            <a:off x="502920" y="6355080"/>
            <a:ext cx="11183112" cy="10972"/>
          </a:xfrm>
          <a:prstGeom prst="rect">
            <a:avLst/>
          </a:prstGeom>
          <a:solidFill>
            <a:srgbClr val="435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9326880" cy="164592"/>
          </a:xfrm>
          <a:prstGeom prst="rect">
            <a:avLst/>
          </a:prstGeom>
          <a:noFill/>
        </p:spPr>
        <p:txBody>
          <a:bodyPr wrap="square" lIns="0" rIns="0" tIns="0" bIns="0" anchor="t">
            <a:spAutoFit/>
          </a:bodyPr>
          <a:lstStyle/>
          <a:p>
            <a:pPr algn="l">
              <a:spcBef>
                <a:spcPts val="0"/>
              </a:spcBef>
              <a:spcAft>
                <a:spcPts val="300"/>
              </a:spcAft>
            </a:pPr>
            <a:r>
              <a:rPr sz="850" b="0">
                <a:solidFill>
                  <a:srgbClr val="A8BDB3"/>
                </a:solidFill>
                <a:latin typeface="Arial"/>
              </a:rPr>
              <a:t>Quellen: [BCS 5; Okumura 6; a+u 7] · D04 / A03</a:t>
            </a:r>
          </a:p>
        </p:txBody>
      </p:sp>
      <p:sp>
        <p:nvSpPr>
          <p:cNvPr id="6" name="TextBox 5"/>
          <p:cNvSpPr txBox="1"/>
          <p:nvPr/>
        </p:nvSpPr>
        <p:spPr>
          <a:xfrm>
            <a:off x="9966960" y="6419088"/>
            <a:ext cx="1719072" cy="228600"/>
          </a:xfrm>
          <a:prstGeom prst="rect">
            <a:avLst/>
          </a:prstGeom>
          <a:noFill/>
        </p:spPr>
        <p:txBody>
          <a:bodyPr wrap="square" lIns="0" rIns="0" tIns="0" bIns="0" anchor="t">
            <a:spAutoFit/>
          </a:bodyPr>
          <a:lstStyle/>
          <a:p>
            <a:pPr algn="r">
              <a:spcBef>
                <a:spcPts val="0"/>
              </a:spcBef>
              <a:spcAft>
                <a:spcPts val="300"/>
              </a:spcAft>
            </a:pPr>
            <a:r>
              <a:rPr sz="1000" b="0">
                <a:solidFill>
                  <a:srgbClr val="A8BDB3"/>
                </a:solidFill>
                <a:latin typeface="Arial"/>
              </a:rPr>
              <a:t>Luca Ingui · 08</a:t>
            </a:r>
          </a:p>
        </p:txBody>
      </p:sp>
      <p:pic>
        <p:nvPicPr>
          <p:cNvPr id="7" name="D04 · Originalabbildung" descr="D04.jpg"/>
          <p:cNvPicPr>
            <a:picLocks noChangeAspect="1"/>
          </p:cNvPicPr>
          <p:nvPr/>
        </p:nvPicPr>
        <p:blipFill>
          <a:blip r:embed="rId2"/>
          <a:stretch>
            <a:fillRect/>
          </a:stretch>
        </p:blipFill>
        <p:spPr>
          <a:xfrm>
            <a:off x="502920" y="1600200"/>
            <a:ext cx="6135624" cy="4089417"/>
          </a:xfrm>
          <a:prstGeom prst="rect">
            <a:avLst/>
          </a:prstGeom>
        </p:spPr>
      </p:pic>
      <p:pic>
        <p:nvPicPr>
          <p:cNvPr id="8" name="A03 · Originalabbildung" descr="A03.jpg"/>
          <p:cNvPicPr>
            <a:picLocks noChangeAspect="1"/>
          </p:cNvPicPr>
          <p:nvPr/>
        </p:nvPicPr>
        <p:blipFill>
          <a:blip r:embed="rId3"/>
          <a:stretch>
            <a:fillRect/>
          </a:stretch>
        </p:blipFill>
        <p:spPr>
          <a:xfrm>
            <a:off x="7123176" y="1609344"/>
            <a:ext cx="4517136" cy="3125412"/>
          </a:xfrm>
          <a:prstGeom prst="rect">
            <a:avLst/>
          </a:prstGeom>
        </p:spPr>
      </p:pic>
      <p:sp>
        <p:nvSpPr>
          <p:cNvPr id="9" name="TextBox 8"/>
          <p:cNvSpPr txBox="1"/>
          <p:nvPr/>
        </p:nvSpPr>
        <p:spPr>
          <a:xfrm>
            <a:off x="502920" y="5815584"/>
            <a:ext cx="6135624"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Ausführungszeichnung · Büroarchiv / a+u</a:t>
            </a:r>
          </a:p>
        </p:txBody>
      </p:sp>
      <p:sp>
        <p:nvSpPr>
          <p:cNvPr id="10" name="TextBox 9"/>
          <p:cNvSpPr txBox="1"/>
          <p:nvPr/>
        </p:nvSpPr>
        <p:spPr>
          <a:xfrm>
            <a:off x="7123176" y="4937760"/>
            <a:ext cx="4517136"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Historischer Blick auf die Gewölberippen</a:t>
            </a:r>
          </a:p>
        </p:txBody>
      </p:sp>
      <p:sp>
        <p:nvSpPr>
          <p:cNvPr id="11" name="TextBox 10"/>
          <p:cNvSpPr txBox="1"/>
          <p:nvPr/>
        </p:nvSpPr>
        <p:spPr>
          <a:xfrm>
            <a:off x="7123176" y="5358384"/>
            <a:ext cx="4517136" cy="658368"/>
          </a:xfrm>
          <a:prstGeom prst="rect">
            <a:avLst/>
          </a:prstGeom>
          <a:noFill/>
        </p:spPr>
        <p:txBody>
          <a:bodyPr wrap="square" lIns="0" rIns="0" tIns="0" bIns="0" anchor="t">
            <a:spAutoFit/>
          </a:bodyPr>
          <a:lstStyle/>
          <a:p>
            <a:pPr algn="l">
              <a:spcBef>
                <a:spcPts val="0"/>
              </a:spcBef>
              <a:spcAft>
                <a:spcPts val="300"/>
              </a:spcAft>
            </a:pPr>
            <a:r>
              <a:rPr sz="1700" b="0">
                <a:solidFill>
                  <a:srgbClr val="D29A74"/>
                </a:solidFill>
                <a:latin typeface="Arial"/>
              </a:rPr>
              <a:t>Dreigelenkbögen</a:t>
            </a:r>
          </a:p>
          <a:p>
            <a:pPr algn="l">
              <a:spcBef>
                <a:spcPts val="0"/>
              </a:spcBef>
              <a:spcAft>
                <a:spcPts val="300"/>
              </a:spcAft>
            </a:pPr>
            <a:r>
              <a:rPr sz="1700" b="0">
                <a:solidFill>
                  <a:srgbClr val="D29A74"/>
                </a:solidFill>
                <a:latin typeface="Arial"/>
              </a:rPr>
              <a:t>aus vorgefertigten Betonelementen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623"/>
        </a:solidFill>
        <a:effectLst/>
      </p:bgPr>
    </p:bg>
    <p:spTree>
      <p:nvGrpSpPr>
        <p:cNvPr id="1" name=""/>
        <p:cNvGrpSpPr/>
        <p:nvPr/>
      </p:nvGrpSpPr>
      <p:grpSpPr/>
      <p:sp>
        <p:nvSpPr>
          <p:cNvPr id="2" name="TextBox 1"/>
          <p:cNvSpPr txBox="1"/>
          <p:nvPr/>
        </p:nvSpPr>
        <p:spPr>
          <a:xfrm>
            <a:off x="502920" y="274320"/>
            <a:ext cx="10972800" cy="201168"/>
          </a:xfrm>
          <a:prstGeom prst="rect">
            <a:avLst/>
          </a:prstGeom>
          <a:noFill/>
        </p:spPr>
        <p:txBody>
          <a:bodyPr wrap="square" lIns="0" rIns="0" tIns="0" bIns="0" anchor="t">
            <a:spAutoFit/>
          </a:bodyPr>
          <a:lstStyle/>
          <a:p>
            <a:pPr algn="l">
              <a:spcBef>
                <a:spcPts val="0"/>
              </a:spcBef>
              <a:spcAft>
                <a:spcPts val="300"/>
              </a:spcAft>
            </a:pPr>
            <a:r>
              <a:rPr sz="1000" b="0">
                <a:solidFill>
                  <a:srgbClr val="D29A74"/>
                </a:solidFill>
                <a:latin typeface="Courier New"/>
              </a:rPr>
              <a:t>08 / FASSADE, LICHT UND NUTZUNG</a:t>
            </a:r>
          </a:p>
        </p:txBody>
      </p:sp>
      <p:sp>
        <p:nvSpPr>
          <p:cNvPr id="3" name="TextBox 2"/>
          <p:cNvSpPr txBox="1"/>
          <p:nvPr/>
        </p:nvSpPr>
        <p:spPr>
          <a:xfrm>
            <a:off x="502920" y="640080"/>
            <a:ext cx="11173968" cy="603504"/>
          </a:xfrm>
          <a:prstGeom prst="rect">
            <a:avLst/>
          </a:prstGeom>
          <a:noFill/>
        </p:spPr>
        <p:txBody>
          <a:bodyPr wrap="square" lIns="0" rIns="0" tIns="0" bIns="0" anchor="t">
            <a:spAutoFit/>
          </a:bodyPr>
          <a:lstStyle/>
          <a:p>
            <a:pPr algn="l">
              <a:spcBef>
                <a:spcPts val="0"/>
              </a:spcBef>
              <a:spcAft>
                <a:spcPts val="300"/>
              </a:spcAft>
            </a:pPr>
            <a:r>
              <a:rPr sz="3200" b="0">
                <a:solidFill>
                  <a:srgbClr val="F4F1E6"/>
                </a:solidFill>
                <a:latin typeface="Georgia"/>
              </a:rPr>
              <a:t>Das Tragwerk wird Innenraum</a:t>
            </a:r>
          </a:p>
        </p:txBody>
      </p:sp>
      <p:sp>
        <p:nvSpPr>
          <p:cNvPr id="4" name="Rectangle 3"/>
          <p:cNvSpPr/>
          <p:nvPr/>
        </p:nvSpPr>
        <p:spPr>
          <a:xfrm>
            <a:off x="502920" y="6355080"/>
            <a:ext cx="11183112" cy="10972"/>
          </a:xfrm>
          <a:prstGeom prst="rect">
            <a:avLst/>
          </a:prstGeom>
          <a:solidFill>
            <a:srgbClr val="435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9326880" cy="164592"/>
          </a:xfrm>
          <a:prstGeom prst="rect">
            <a:avLst/>
          </a:prstGeom>
          <a:noFill/>
        </p:spPr>
        <p:txBody>
          <a:bodyPr wrap="square" lIns="0" rIns="0" tIns="0" bIns="0" anchor="t">
            <a:spAutoFit/>
          </a:bodyPr>
          <a:lstStyle/>
          <a:p>
            <a:pPr algn="l">
              <a:spcBef>
                <a:spcPts val="0"/>
              </a:spcBef>
              <a:spcAft>
                <a:spcPts val="300"/>
              </a:spcAft>
            </a:pPr>
            <a:r>
              <a:rPr sz="850" b="0">
                <a:solidFill>
                  <a:srgbClr val="A8BDB3"/>
                </a:solidFill>
                <a:latin typeface="Arial"/>
              </a:rPr>
              <a:t>Quellen: [BCS 5] · U04 / U05 / U07: Nutzerdateien</a:t>
            </a:r>
          </a:p>
        </p:txBody>
      </p:sp>
      <p:sp>
        <p:nvSpPr>
          <p:cNvPr id="6" name="TextBox 5"/>
          <p:cNvSpPr txBox="1"/>
          <p:nvPr/>
        </p:nvSpPr>
        <p:spPr>
          <a:xfrm>
            <a:off x="9966960" y="6419088"/>
            <a:ext cx="1719072" cy="228600"/>
          </a:xfrm>
          <a:prstGeom prst="rect">
            <a:avLst/>
          </a:prstGeom>
          <a:noFill/>
        </p:spPr>
        <p:txBody>
          <a:bodyPr wrap="square" lIns="0" rIns="0" tIns="0" bIns="0" anchor="t">
            <a:spAutoFit/>
          </a:bodyPr>
          <a:lstStyle/>
          <a:p>
            <a:pPr algn="r">
              <a:spcBef>
                <a:spcPts val="0"/>
              </a:spcBef>
              <a:spcAft>
                <a:spcPts val="300"/>
              </a:spcAft>
            </a:pPr>
            <a:r>
              <a:rPr sz="1000" b="0">
                <a:solidFill>
                  <a:srgbClr val="A8BDB3"/>
                </a:solidFill>
                <a:latin typeface="Arial"/>
              </a:rPr>
              <a:t>Luca Ingui · 09</a:t>
            </a:r>
          </a:p>
        </p:txBody>
      </p:sp>
      <p:pic>
        <p:nvPicPr>
          <p:cNvPr id="7" name="U04 · Originalabbildung" descr="U04.jpg"/>
          <p:cNvPicPr>
            <a:picLocks noChangeAspect="1"/>
          </p:cNvPicPr>
          <p:nvPr/>
        </p:nvPicPr>
        <p:blipFill>
          <a:blip r:embed="rId2"/>
          <a:stretch>
            <a:fillRect/>
          </a:stretch>
        </p:blipFill>
        <p:spPr>
          <a:xfrm>
            <a:off x="502920" y="1472184"/>
            <a:ext cx="3540556" cy="4425696"/>
          </a:xfrm>
          <a:prstGeom prst="rect">
            <a:avLst/>
          </a:prstGeom>
        </p:spPr>
      </p:pic>
      <p:sp>
        <p:nvSpPr>
          <p:cNvPr id="8" name="TextBox 7"/>
          <p:cNvSpPr txBox="1"/>
          <p:nvPr/>
        </p:nvSpPr>
        <p:spPr>
          <a:xfrm>
            <a:off x="502920" y="6035040"/>
            <a:ext cx="3540556"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Gewölbe und Treppe</a:t>
            </a:r>
          </a:p>
        </p:txBody>
      </p:sp>
      <p:pic>
        <p:nvPicPr>
          <p:cNvPr id="9" name="U05 · Originalabbildung" descr="U05.jpg"/>
          <p:cNvPicPr>
            <a:picLocks noChangeAspect="1"/>
          </p:cNvPicPr>
          <p:nvPr/>
        </p:nvPicPr>
        <p:blipFill>
          <a:blip r:embed="rId3"/>
          <a:stretch>
            <a:fillRect/>
          </a:stretch>
        </p:blipFill>
        <p:spPr>
          <a:xfrm>
            <a:off x="4281220" y="1472184"/>
            <a:ext cx="3538098" cy="4425696"/>
          </a:xfrm>
          <a:prstGeom prst="rect">
            <a:avLst/>
          </a:prstGeom>
        </p:spPr>
      </p:pic>
      <p:sp>
        <p:nvSpPr>
          <p:cNvPr id="10" name="TextBox 9"/>
          <p:cNvSpPr txBox="1"/>
          <p:nvPr/>
        </p:nvSpPr>
        <p:spPr>
          <a:xfrm>
            <a:off x="4281220" y="6035040"/>
            <a:ext cx="3538098"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Galerie und Raumverbindung</a:t>
            </a:r>
          </a:p>
        </p:txBody>
      </p:sp>
      <p:pic>
        <p:nvPicPr>
          <p:cNvPr id="11" name="U07 · Originalabbildung" descr="U07.jpg"/>
          <p:cNvPicPr>
            <a:picLocks noChangeAspect="1"/>
          </p:cNvPicPr>
          <p:nvPr/>
        </p:nvPicPr>
        <p:blipFill>
          <a:blip r:embed="rId4"/>
          <a:stretch>
            <a:fillRect/>
          </a:stretch>
        </p:blipFill>
        <p:spPr>
          <a:xfrm>
            <a:off x="8057062" y="1472184"/>
            <a:ext cx="3538098" cy="4425696"/>
          </a:xfrm>
          <a:prstGeom prst="rect">
            <a:avLst/>
          </a:prstGeom>
        </p:spPr>
      </p:pic>
      <p:sp>
        <p:nvSpPr>
          <p:cNvPr id="12" name="TextBox 11"/>
          <p:cNvSpPr txBox="1"/>
          <p:nvPr/>
        </p:nvSpPr>
        <p:spPr>
          <a:xfrm>
            <a:off x="8057062" y="6035040"/>
            <a:ext cx="3538098"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Bibliotheksbetrieb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623"/>
        </a:solidFill>
        <a:effectLst/>
      </p:bgPr>
    </p:bg>
    <p:spTree>
      <p:nvGrpSpPr>
        <p:cNvPr id="1" name=""/>
        <p:cNvGrpSpPr/>
        <p:nvPr/>
      </p:nvGrpSpPr>
      <p:grpSpPr/>
      <p:sp>
        <p:nvSpPr>
          <p:cNvPr id="2" name="TextBox 1"/>
          <p:cNvSpPr txBox="1"/>
          <p:nvPr/>
        </p:nvSpPr>
        <p:spPr>
          <a:xfrm>
            <a:off x="502920" y="274320"/>
            <a:ext cx="10972800" cy="201168"/>
          </a:xfrm>
          <a:prstGeom prst="rect">
            <a:avLst/>
          </a:prstGeom>
          <a:noFill/>
        </p:spPr>
        <p:txBody>
          <a:bodyPr wrap="square" lIns="0" rIns="0" tIns="0" bIns="0" anchor="t">
            <a:spAutoFit/>
          </a:bodyPr>
          <a:lstStyle/>
          <a:p>
            <a:pPr algn="l">
              <a:spcBef>
                <a:spcPts val="0"/>
              </a:spcBef>
              <a:spcAft>
                <a:spcPts val="300"/>
              </a:spcAft>
            </a:pPr>
            <a:r>
              <a:rPr sz="1000" b="0">
                <a:solidFill>
                  <a:srgbClr val="D29A74"/>
                </a:solidFill>
                <a:latin typeface="Courier New"/>
              </a:rPr>
              <a:t>09 / HISTORISCHER VERGLEICH</a:t>
            </a:r>
          </a:p>
        </p:txBody>
      </p:sp>
      <p:sp>
        <p:nvSpPr>
          <p:cNvPr id="3" name="TextBox 2"/>
          <p:cNvSpPr txBox="1"/>
          <p:nvPr/>
        </p:nvSpPr>
        <p:spPr>
          <a:xfrm>
            <a:off x="502920" y="640080"/>
            <a:ext cx="11173968" cy="603504"/>
          </a:xfrm>
          <a:prstGeom prst="rect">
            <a:avLst/>
          </a:prstGeom>
          <a:noFill/>
        </p:spPr>
        <p:txBody>
          <a:bodyPr wrap="square" lIns="0" rIns="0" tIns="0" bIns="0" anchor="t">
            <a:spAutoFit/>
          </a:bodyPr>
          <a:lstStyle/>
          <a:p>
            <a:pPr algn="l">
              <a:spcBef>
                <a:spcPts val="0"/>
              </a:spcBef>
              <a:spcAft>
                <a:spcPts val="300"/>
              </a:spcAft>
            </a:pPr>
            <a:r>
              <a:rPr sz="3200" b="0">
                <a:solidFill>
                  <a:srgbClr val="F4F1E6"/>
                </a:solidFill>
                <a:latin typeface="Georgia"/>
              </a:rPr>
              <a:t>Einordnung: Idee und Herstellung</a:t>
            </a:r>
          </a:p>
        </p:txBody>
      </p:sp>
      <p:sp>
        <p:nvSpPr>
          <p:cNvPr id="4" name="Rectangle 3"/>
          <p:cNvSpPr/>
          <p:nvPr/>
        </p:nvSpPr>
        <p:spPr>
          <a:xfrm>
            <a:off x="502920" y="6355080"/>
            <a:ext cx="11183112" cy="10972"/>
          </a:xfrm>
          <a:prstGeom prst="rect">
            <a:avLst/>
          </a:prstGeom>
          <a:solidFill>
            <a:srgbClr val="435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9326880" cy="164592"/>
          </a:xfrm>
          <a:prstGeom prst="rect">
            <a:avLst/>
          </a:prstGeom>
          <a:noFill/>
        </p:spPr>
        <p:txBody>
          <a:bodyPr wrap="square" lIns="0" rIns="0" tIns="0" bIns="0" anchor="t">
            <a:spAutoFit/>
          </a:bodyPr>
          <a:lstStyle/>
          <a:p>
            <a:pPr algn="l">
              <a:spcBef>
                <a:spcPts val="0"/>
              </a:spcBef>
              <a:spcAft>
                <a:spcPts val="300"/>
              </a:spcAft>
            </a:pPr>
            <a:r>
              <a:rPr sz="850" b="0">
                <a:solidFill>
                  <a:srgbClr val="A8BDB3"/>
                </a:solidFill>
                <a:latin typeface="Arial"/>
              </a:rPr>
              <a:t>Quellen: [BCS 5; a+u 7] · A02 / U06</a:t>
            </a:r>
          </a:p>
        </p:txBody>
      </p:sp>
      <p:sp>
        <p:nvSpPr>
          <p:cNvPr id="6" name="TextBox 5"/>
          <p:cNvSpPr txBox="1"/>
          <p:nvPr/>
        </p:nvSpPr>
        <p:spPr>
          <a:xfrm>
            <a:off x="9966960" y="6419088"/>
            <a:ext cx="1719072" cy="228600"/>
          </a:xfrm>
          <a:prstGeom prst="rect">
            <a:avLst/>
          </a:prstGeom>
          <a:noFill/>
        </p:spPr>
        <p:txBody>
          <a:bodyPr wrap="square" lIns="0" rIns="0" tIns="0" bIns="0" anchor="t">
            <a:spAutoFit/>
          </a:bodyPr>
          <a:lstStyle/>
          <a:p>
            <a:pPr algn="r">
              <a:spcBef>
                <a:spcPts val="0"/>
              </a:spcBef>
              <a:spcAft>
                <a:spcPts val="300"/>
              </a:spcAft>
            </a:pPr>
            <a:r>
              <a:rPr sz="1000" b="0">
                <a:solidFill>
                  <a:srgbClr val="A8BDB3"/>
                </a:solidFill>
                <a:latin typeface="Arial"/>
              </a:rPr>
              <a:t>Luca Ingui · 10</a:t>
            </a:r>
          </a:p>
        </p:txBody>
      </p:sp>
      <p:pic>
        <p:nvPicPr>
          <p:cNvPr id="7" name="A02 · Originalabbildung" descr="A02.jpg"/>
          <p:cNvPicPr>
            <a:picLocks noChangeAspect="1"/>
          </p:cNvPicPr>
          <p:nvPr/>
        </p:nvPicPr>
        <p:blipFill>
          <a:blip r:embed="rId2"/>
          <a:stretch>
            <a:fillRect/>
          </a:stretch>
        </p:blipFill>
        <p:spPr>
          <a:xfrm>
            <a:off x="2057400" y="1435608"/>
            <a:ext cx="3768589" cy="4553712"/>
          </a:xfrm>
          <a:prstGeom prst="rect">
            <a:avLst/>
          </a:prstGeom>
        </p:spPr>
      </p:pic>
      <p:pic>
        <p:nvPicPr>
          <p:cNvPr id="8" name="U06 · Originalabbildung" descr="U06.jpg"/>
          <p:cNvPicPr>
            <a:picLocks noChangeAspect="1"/>
          </p:cNvPicPr>
          <p:nvPr/>
        </p:nvPicPr>
        <p:blipFill>
          <a:blip r:embed="rId3"/>
          <a:stretch>
            <a:fillRect/>
          </a:stretch>
        </p:blipFill>
        <p:spPr>
          <a:xfrm>
            <a:off x="6327648" y="1435608"/>
            <a:ext cx="3642969" cy="4553712"/>
          </a:xfrm>
          <a:prstGeom prst="rect">
            <a:avLst/>
          </a:prstGeom>
        </p:spPr>
      </p:pic>
      <p:sp>
        <p:nvSpPr>
          <p:cNvPr id="9" name="TextBox 8"/>
          <p:cNvSpPr txBox="1"/>
          <p:nvPr/>
        </p:nvSpPr>
        <p:spPr>
          <a:xfrm>
            <a:off x="2057400" y="6071616"/>
            <a:ext cx="3794760"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Historischer Leseraum · BCS 1976</a:t>
            </a:r>
          </a:p>
        </p:txBody>
      </p:sp>
      <p:sp>
        <p:nvSpPr>
          <p:cNvPr id="10" name="TextBox 9"/>
          <p:cNvSpPr txBox="1"/>
          <p:nvPr/>
        </p:nvSpPr>
        <p:spPr>
          <a:xfrm>
            <a:off x="6327648" y="6071616"/>
            <a:ext cx="3657600" cy="256032"/>
          </a:xfrm>
          <a:prstGeom prst="rect">
            <a:avLst/>
          </a:prstGeom>
          <a:noFill/>
        </p:spPr>
        <p:txBody>
          <a:bodyPr wrap="square" lIns="0" rIns="0" tIns="0" bIns="0" anchor="t">
            <a:spAutoFit/>
          </a:bodyPr>
          <a:lstStyle/>
          <a:p>
            <a:pPr algn="l">
              <a:spcBef>
                <a:spcPts val="0"/>
              </a:spcBef>
              <a:spcAft>
                <a:spcPts val="300"/>
              </a:spcAft>
            </a:pPr>
            <a:r>
              <a:rPr sz="1000" b="0">
                <a:solidFill>
                  <a:srgbClr val="A8BDB3"/>
                </a:solidFill>
                <a:latin typeface="Arial"/>
              </a:rPr>
              <a:t>Heutige Bildvorlage · Nutzerdatei U06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2623"/>
        </a:solidFill>
        <a:effectLst/>
      </p:bgPr>
    </p:bg>
    <p:spTree>
      <p:nvGrpSpPr>
        <p:cNvPr id="1" name=""/>
        <p:cNvGrpSpPr/>
        <p:nvPr/>
      </p:nvGrpSpPr>
      <p:grpSpPr/>
      <p:sp>
        <p:nvSpPr>
          <p:cNvPr id="2" name="TextBox 1"/>
          <p:cNvSpPr txBox="1"/>
          <p:nvPr/>
        </p:nvSpPr>
        <p:spPr>
          <a:xfrm>
            <a:off x="502920" y="274320"/>
            <a:ext cx="10972800" cy="201168"/>
          </a:xfrm>
          <a:prstGeom prst="rect">
            <a:avLst/>
          </a:prstGeom>
          <a:noFill/>
        </p:spPr>
        <p:txBody>
          <a:bodyPr wrap="square" lIns="0" rIns="0" tIns="0" bIns="0" anchor="t">
            <a:spAutoFit/>
          </a:bodyPr>
          <a:lstStyle/>
          <a:p>
            <a:pPr algn="l">
              <a:spcBef>
                <a:spcPts val="0"/>
              </a:spcBef>
              <a:spcAft>
                <a:spcPts val="300"/>
              </a:spcAft>
            </a:pPr>
            <a:r>
              <a:rPr sz="1000" b="0">
                <a:solidFill>
                  <a:srgbClr val="D29A74"/>
                </a:solidFill>
                <a:latin typeface="Courier New"/>
              </a:rPr>
              <a:t>10 / FAZIT</a:t>
            </a:r>
          </a:p>
        </p:txBody>
      </p:sp>
      <p:sp>
        <p:nvSpPr>
          <p:cNvPr id="3" name="TextBox 2"/>
          <p:cNvSpPr txBox="1"/>
          <p:nvPr/>
        </p:nvSpPr>
        <p:spPr>
          <a:xfrm>
            <a:off x="502920" y="640080"/>
            <a:ext cx="11173968" cy="603504"/>
          </a:xfrm>
          <a:prstGeom prst="rect">
            <a:avLst/>
          </a:prstGeom>
          <a:noFill/>
        </p:spPr>
        <p:txBody>
          <a:bodyPr wrap="square" lIns="0" rIns="0" tIns="0" bIns="0" anchor="t">
            <a:spAutoFit/>
          </a:bodyPr>
          <a:lstStyle/>
          <a:p>
            <a:pPr algn="l">
              <a:spcBef>
                <a:spcPts val="0"/>
              </a:spcBef>
              <a:spcAft>
                <a:spcPts val="300"/>
              </a:spcAft>
            </a:pPr>
            <a:r>
              <a:rPr sz="3200" b="0">
                <a:solidFill>
                  <a:srgbClr val="F4F1E6"/>
                </a:solidFill>
                <a:latin typeface="Georgia"/>
              </a:rPr>
              <a:t>Form, öffentlicher Raum, Herstellung</a:t>
            </a:r>
          </a:p>
        </p:txBody>
      </p:sp>
      <p:sp>
        <p:nvSpPr>
          <p:cNvPr id="4" name="Rectangle 3"/>
          <p:cNvSpPr/>
          <p:nvPr/>
        </p:nvSpPr>
        <p:spPr>
          <a:xfrm>
            <a:off x="502920" y="6355080"/>
            <a:ext cx="11183112" cy="10972"/>
          </a:xfrm>
          <a:prstGeom prst="rect">
            <a:avLst/>
          </a:prstGeom>
          <a:solidFill>
            <a:srgbClr val="435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9326880" cy="164592"/>
          </a:xfrm>
          <a:prstGeom prst="rect">
            <a:avLst/>
          </a:prstGeom>
          <a:noFill/>
        </p:spPr>
        <p:txBody>
          <a:bodyPr wrap="square" lIns="0" rIns="0" tIns="0" bIns="0" anchor="t">
            <a:spAutoFit/>
          </a:bodyPr>
          <a:lstStyle/>
          <a:p>
            <a:pPr algn="l">
              <a:spcBef>
                <a:spcPts val="0"/>
              </a:spcBef>
              <a:spcAft>
                <a:spcPts val="300"/>
              </a:spcAft>
            </a:pPr>
            <a:r>
              <a:rPr sz="850" b="0">
                <a:solidFill>
                  <a:srgbClr val="A8BDB3"/>
                </a:solidFill>
                <a:latin typeface="Arial"/>
              </a:rPr>
              <a:t>Quellen: [BCS 5; Okumura 6] · U08: Nutzerdatei</a:t>
            </a:r>
          </a:p>
        </p:txBody>
      </p:sp>
      <p:sp>
        <p:nvSpPr>
          <p:cNvPr id="6" name="TextBox 5"/>
          <p:cNvSpPr txBox="1"/>
          <p:nvPr/>
        </p:nvSpPr>
        <p:spPr>
          <a:xfrm>
            <a:off x="9966960" y="6419088"/>
            <a:ext cx="1719072" cy="228600"/>
          </a:xfrm>
          <a:prstGeom prst="rect">
            <a:avLst/>
          </a:prstGeom>
          <a:noFill/>
        </p:spPr>
        <p:txBody>
          <a:bodyPr wrap="square" lIns="0" rIns="0" tIns="0" bIns="0" anchor="t">
            <a:spAutoFit/>
          </a:bodyPr>
          <a:lstStyle/>
          <a:p>
            <a:pPr algn="r">
              <a:spcBef>
                <a:spcPts val="0"/>
              </a:spcBef>
              <a:spcAft>
                <a:spcPts val="300"/>
              </a:spcAft>
            </a:pPr>
            <a:r>
              <a:rPr sz="1000" b="0">
                <a:solidFill>
                  <a:srgbClr val="A8BDB3"/>
                </a:solidFill>
                <a:latin typeface="Arial"/>
              </a:rPr>
              <a:t>Luca Ingui · 11</a:t>
            </a:r>
          </a:p>
        </p:txBody>
      </p:sp>
      <p:sp>
        <p:nvSpPr>
          <p:cNvPr id="7" name="TextBox 6"/>
          <p:cNvSpPr txBox="1"/>
          <p:nvPr/>
        </p:nvSpPr>
        <p:spPr>
          <a:xfrm>
            <a:off x="502920" y="1554480"/>
            <a:ext cx="6053328" cy="402336"/>
          </a:xfrm>
          <a:prstGeom prst="rect">
            <a:avLst/>
          </a:prstGeom>
          <a:noFill/>
        </p:spPr>
        <p:txBody>
          <a:bodyPr wrap="square" lIns="0" rIns="0" tIns="0" bIns="0" anchor="t">
            <a:spAutoFit/>
          </a:bodyPr>
          <a:lstStyle/>
          <a:p>
            <a:pPr algn="l">
              <a:spcBef>
                <a:spcPts val="0"/>
              </a:spcBef>
              <a:spcAft>
                <a:spcPts val="300"/>
              </a:spcAft>
            </a:pPr>
            <a:r>
              <a:rPr sz="2500" b="0">
                <a:solidFill>
                  <a:srgbClr val="D29A74"/>
                </a:solidFill>
                <a:latin typeface="Georgia"/>
              </a:rPr>
              <a:t>Form</a:t>
            </a:r>
          </a:p>
        </p:txBody>
      </p:sp>
      <p:sp>
        <p:nvSpPr>
          <p:cNvPr id="8" name="TextBox 7"/>
          <p:cNvSpPr txBox="1"/>
          <p:nvPr/>
        </p:nvSpPr>
        <p:spPr>
          <a:xfrm>
            <a:off x="502920" y="2148840"/>
            <a:ext cx="6291072" cy="566928"/>
          </a:xfrm>
          <a:prstGeom prst="rect">
            <a:avLst/>
          </a:prstGeom>
          <a:noFill/>
        </p:spPr>
        <p:txBody>
          <a:bodyPr wrap="square" lIns="0" rIns="0" tIns="0" bIns="0" anchor="t">
            <a:spAutoFit/>
          </a:bodyPr>
          <a:lstStyle/>
          <a:p>
            <a:pPr algn="l">
              <a:spcBef>
                <a:spcPts val="0"/>
              </a:spcBef>
              <a:spcAft>
                <a:spcPts val="300"/>
              </a:spcAft>
            </a:pPr>
            <a:r>
              <a:rPr sz="1800" b="0">
                <a:solidFill>
                  <a:srgbClr val="F4F1E6"/>
                </a:solidFill>
                <a:latin typeface="Arial"/>
              </a:rPr>
              <a:t>Zwei J-förmige Gebäudebänder</a:t>
            </a:r>
          </a:p>
        </p:txBody>
      </p:sp>
      <p:sp>
        <p:nvSpPr>
          <p:cNvPr id="9" name="TextBox 8"/>
          <p:cNvSpPr txBox="1"/>
          <p:nvPr/>
        </p:nvSpPr>
        <p:spPr>
          <a:xfrm>
            <a:off x="502920" y="2944368"/>
            <a:ext cx="6053328" cy="402336"/>
          </a:xfrm>
          <a:prstGeom prst="rect">
            <a:avLst/>
          </a:prstGeom>
          <a:noFill/>
        </p:spPr>
        <p:txBody>
          <a:bodyPr wrap="square" lIns="0" rIns="0" tIns="0" bIns="0" anchor="t">
            <a:spAutoFit/>
          </a:bodyPr>
          <a:lstStyle/>
          <a:p>
            <a:pPr algn="l">
              <a:spcBef>
                <a:spcPts val="0"/>
              </a:spcBef>
              <a:spcAft>
                <a:spcPts val="300"/>
              </a:spcAft>
            </a:pPr>
            <a:r>
              <a:rPr sz="2500" b="0">
                <a:solidFill>
                  <a:srgbClr val="D29A74"/>
                </a:solidFill>
                <a:latin typeface="Georgia"/>
              </a:rPr>
              <a:t>Raum</a:t>
            </a:r>
          </a:p>
        </p:txBody>
      </p:sp>
      <p:sp>
        <p:nvSpPr>
          <p:cNvPr id="10" name="TextBox 9"/>
          <p:cNvSpPr txBox="1"/>
          <p:nvPr/>
        </p:nvSpPr>
        <p:spPr>
          <a:xfrm>
            <a:off x="502920" y="3538728"/>
            <a:ext cx="6291072" cy="566928"/>
          </a:xfrm>
          <a:prstGeom prst="rect">
            <a:avLst/>
          </a:prstGeom>
          <a:noFill/>
        </p:spPr>
        <p:txBody>
          <a:bodyPr wrap="square" lIns="0" rIns="0" tIns="0" bIns="0" anchor="t">
            <a:spAutoFit/>
          </a:bodyPr>
          <a:lstStyle/>
          <a:p>
            <a:pPr algn="l">
              <a:spcBef>
                <a:spcPts val="0"/>
              </a:spcBef>
              <a:spcAft>
                <a:spcPts val="300"/>
              </a:spcAft>
            </a:pPr>
            <a:r>
              <a:rPr sz="1800" b="0">
                <a:solidFill>
                  <a:srgbClr val="F4F1E6"/>
                </a:solidFill>
                <a:latin typeface="Arial"/>
              </a:rPr>
              <a:t>Sichtbare Gewölberippen als Raumgerüst</a:t>
            </a:r>
          </a:p>
        </p:txBody>
      </p:sp>
      <p:sp>
        <p:nvSpPr>
          <p:cNvPr id="11" name="TextBox 10"/>
          <p:cNvSpPr txBox="1"/>
          <p:nvPr/>
        </p:nvSpPr>
        <p:spPr>
          <a:xfrm>
            <a:off x="502920" y="4334256"/>
            <a:ext cx="6053328" cy="402336"/>
          </a:xfrm>
          <a:prstGeom prst="rect">
            <a:avLst/>
          </a:prstGeom>
          <a:noFill/>
        </p:spPr>
        <p:txBody>
          <a:bodyPr wrap="square" lIns="0" rIns="0" tIns="0" bIns="0" anchor="t">
            <a:spAutoFit/>
          </a:bodyPr>
          <a:lstStyle/>
          <a:p>
            <a:pPr algn="l">
              <a:spcBef>
                <a:spcPts val="0"/>
              </a:spcBef>
              <a:spcAft>
                <a:spcPts val="300"/>
              </a:spcAft>
            </a:pPr>
            <a:r>
              <a:rPr sz="2500" b="0">
                <a:solidFill>
                  <a:srgbClr val="D29A74"/>
                </a:solidFill>
                <a:latin typeface="Georgia"/>
              </a:rPr>
              <a:t>Bau</a:t>
            </a:r>
          </a:p>
        </p:txBody>
      </p:sp>
      <p:sp>
        <p:nvSpPr>
          <p:cNvPr id="12" name="TextBox 11"/>
          <p:cNvSpPr txBox="1"/>
          <p:nvPr/>
        </p:nvSpPr>
        <p:spPr>
          <a:xfrm>
            <a:off x="502920" y="4928616"/>
            <a:ext cx="6291072" cy="566928"/>
          </a:xfrm>
          <a:prstGeom prst="rect">
            <a:avLst/>
          </a:prstGeom>
          <a:noFill/>
        </p:spPr>
        <p:txBody>
          <a:bodyPr wrap="square" lIns="0" rIns="0" tIns="0" bIns="0" anchor="t">
            <a:spAutoFit/>
          </a:bodyPr>
          <a:lstStyle/>
          <a:p>
            <a:pPr algn="l">
              <a:spcBef>
                <a:spcPts val="0"/>
              </a:spcBef>
              <a:spcAft>
                <a:spcPts val="300"/>
              </a:spcAft>
            </a:pPr>
            <a:r>
              <a:rPr sz="1800" b="0">
                <a:solidFill>
                  <a:srgbClr val="F4F1E6"/>
                </a:solidFill>
                <a:latin typeface="Arial"/>
              </a:rPr>
              <a:t>210 Elemente in 39 Typen</a:t>
            </a:r>
          </a:p>
        </p:txBody>
      </p:sp>
      <p:pic>
        <p:nvPicPr>
          <p:cNvPr id="13" name="U08 · Originalabbildung" descr="U08.jpg"/>
          <p:cNvPicPr>
            <a:picLocks noChangeAspect="1"/>
          </p:cNvPicPr>
          <p:nvPr/>
        </p:nvPicPr>
        <p:blipFill>
          <a:blip r:embed="rId2"/>
          <a:stretch>
            <a:fillRect/>
          </a:stretch>
        </p:blipFill>
        <p:spPr>
          <a:xfrm>
            <a:off x="7735824" y="1389888"/>
            <a:ext cx="3750091" cy="469087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623"/>
        </a:solidFill>
        <a:effectLst/>
      </p:bgPr>
    </p:bg>
    <p:spTree>
      <p:nvGrpSpPr>
        <p:cNvPr id="1" name=""/>
        <p:cNvGrpSpPr/>
        <p:nvPr/>
      </p:nvGrpSpPr>
      <p:grpSpPr/>
      <p:sp>
        <p:nvSpPr>
          <p:cNvPr id="2" name="TextBox 1"/>
          <p:cNvSpPr txBox="1"/>
          <p:nvPr/>
        </p:nvSpPr>
        <p:spPr>
          <a:xfrm>
            <a:off x="502920" y="274320"/>
            <a:ext cx="10972800" cy="201168"/>
          </a:xfrm>
          <a:prstGeom prst="rect">
            <a:avLst/>
          </a:prstGeom>
          <a:noFill/>
        </p:spPr>
        <p:txBody>
          <a:bodyPr wrap="square" lIns="0" rIns="0" tIns="0" bIns="0" anchor="t">
            <a:spAutoFit/>
          </a:bodyPr>
          <a:lstStyle/>
          <a:p>
            <a:pPr algn="l">
              <a:spcBef>
                <a:spcPts val="0"/>
              </a:spcBef>
              <a:spcAft>
                <a:spcPts val="300"/>
              </a:spcAft>
            </a:pPr>
            <a:r>
              <a:rPr sz="1000" b="0">
                <a:solidFill>
                  <a:srgbClr val="D29A74"/>
                </a:solidFill>
                <a:latin typeface="Courier New"/>
              </a:rPr>
              <a:t>11 / ORIGINALPUBLIKATIONEN</a:t>
            </a:r>
          </a:p>
        </p:txBody>
      </p:sp>
      <p:sp>
        <p:nvSpPr>
          <p:cNvPr id="3" name="TextBox 2"/>
          <p:cNvSpPr txBox="1"/>
          <p:nvPr/>
        </p:nvSpPr>
        <p:spPr>
          <a:xfrm>
            <a:off x="502920" y="640080"/>
            <a:ext cx="11173968" cy="603504"/>
          </a:xfrm>
          <a:prstGeom prst="rect">
            <a:avLst/>
          </a:prstGeom>
          <a:noFill/>
        </p:spPr>
        <p:txBody>
          <a:bodyPr wrap="square" lIns="0" rIns="0" tIns="0" bIns="0" anchor="t">
            <a:spAutoFit/>
          </a:bodyPr>
          <a:lstStyle/>
          <a:p>
            <a:pPr algn="l">
              <a:spcBef>
                <a:spcPts val="0"/>
              </a:spcBef>
              <a:spcAft>
                <a:spcPts val="300"/>
              </a:spcAft>
            </a:pPr>
            <a:r>
              <a:rPr sz="3200" b="0">
                <a:solidFill>
                  <a:srgbClr val="F4F1E6"/>
                </a:solidFill>
                <a:latin typeface="Georgia"/>
              </a:rPr>
              <a:t>Quellen und Bildnachweise</a:t>
            </a:r>
          </a:p>
        </p:txBody>
      </p:sp>
      <p:sp>
        <p:nvSpPr>
          <p:cNvPr id="4" name="Rectangle 3"/>
          <p:cNvSpPr/>
          <p:nvPr/>
        </p:nvSpPr>
        <p:spPr>
          <a:xfrm>
            <a:off x="502920" y="6355080"/>
            <a:ext cx="11183112" cy="10972"/>
          </a:xfrm>
          <a:prstGeom prst="rect">
            <a:avLst/>
          </a:prstGeom>
          <a:solidFill>
            <a:srgbClr val="435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9326880" cy="164592"/>
          </a:xfrm>
          <a:prstGeom prst="rect">
            <a:avLst/>
          </a:prstGeom>
          <a:noFill/>
        </p:spPr>
        <p:txBody>
          <a:bodyPr wrap="square" lIns="0" rIns="0" tIns="0" bIns="0" anchor="t">
            <a:spAutoFit/>
          </a:bodyPr>
          <a:lstStyle/>
          <a:p>
            <a:pPr algn="l">
              <a:spcBef>
                <a:spcPts val="0"/>
              </a:spcBef>
              <a:spcAft>
                <a:spcPts val="300"/>
              </a:spcAft>
            </a:pPr>
            <a:r>
              <a:rPr sz="850" b="0">
                <a:solidFill>
                  <a:srgbClr val="A8BDB3"/>
                </a:solidFill>
                <a:latin typeface="Arial"/>
              </a:rPr>
              <a:t>Quellen: Primärquellen · Links und vollständige Nachweise im Recherche-PDF</a:t>
            </a:r>
          </a:p>
        </p:txBody>
      </p:sp>
      <p:sp>
        <p:nvSpPr>
          <p:cNvPr id="6" name="TextBox 5"/>
          <p:cNvSpPr txBox="1"/>
          <p:nvPr/>
        </p:nvSpPr>
        <p:spPr>
          <a:xfrm>
            <a:off x="9966960" y="6419088"/>
            <a:ext cx="1719072" cy="228600"/>
          </a:xfrm>
          <a:prstGeom prst="rect">
            <a:avLst/>
          </a:prstGeom>
          <a:noFill/>
        </p:spPr>
        <p:txBody>
          <a:bodyPr wrap="square" lIns="0" rIns="0" tIns="0" bIns="0" anchor="t">
            <a:spAutoFit/>
          </a:bodyPr>
          <a:lstStyle/>
          <a:p>
            <a:pPr algn="r">
              <a:spcBef>
                <a:spcPts val="0"/>
              </a:spcBef>
              <a:spcAft>
                <a:spcPts val="300"/>
              </a:spcAft>
            </a:pPr>
            <a:r>
              <a:rPr sz="1000" b="0">
                <a:solidFill>
                  <a:srgbClr val="A8BDB3"/>
                </a:solidFill>
                <a:latin typeface="Arial"/>
              </a:rPr>
              <a:t>Luca Ingui · 12</a:t>
            </a:r>
          </a:p>
        </p:txBody>
      </p:sp>
      <p:sp>
        <p:nvSpPr>
          <p:cNvPr id="7" name="TextBox 6"/>
          <p:cNvSpPr txBox="1"/>
          <p:nvPr/>
        </p:nvSpPr>
        <p:spPr>
          <a:xfrm>
            <a:off x="502920" y="1472184"/>
            <a:ext cx="5623560" cy="402336"/>
          </a:xfrm>
          <a:prstGeom prst="rect">
            <a:avLst/>
          </a:prstGeom>
          <a:noFill/>
        </p:spPr>
        <p:txBody>
          <a:bodyPr wrap="square" lIns="0" rIns="0" tIns="0" bIns="0" anchor="t">
            <a:spAutoFit/>
          </a:bodyPr>
          <a:lstStyle/>
          <a:p>
            <a:pPr algn="l">
              <a:spcBef>
                <a:spcPts val="0"/>
              </a:spcBef>
              <a:spcAft>
                <a:spcPts val="300"/>
              </a:spcAft>
            </a:pPr>
            <a:r>
              <a:rPr sz="2400" b="0">
                <a:solidFill>
                  <a:srgbClr val="D29A74"/>
                </a:solidFill>
                <a:latin typeface="Georgia"/>
              </a:rPr>
              <a:t>Quellen</a:t>
            </a:r>
          </a:p>
        </p:txBody>
      </p:sp>
      <p:sp>
        <p:nvSpPr>
          <p:cNvPr id="8" name="TextBox 7"/>
          <p:cNvSpPr txBox="1"/>
          <p:nvPr/>
        </p:nvSpPr>
        <p:spPr>
          <a:xfrm>
            <a:off x="502920" y="2103120"/>
            <a:ext cx="1517904" cy="256032"/>
          </a:xfrm>
          <a:prstGeom prst="rect">
            <a:avLst/>
          </a:prstGeom>
          <a:noFill/>
        </p:spPr>
        <p:txBody>
          <a:bodyPr wrap="square" lIns="0" rIns="0" tIns="0" bIns="0" anchor="t">
            <a:spAutoFit/>
          </a:bodyPr>
          <a:lstStyle/>
          <a:p>
            <a:pPr algn="l">
              <a:spcBef>
                <a:spcPts val="0"/>
              </a:spcBef>
              <a:spcAft>
                <a:spcPts val="300"/>
              </a:spcAft>
            </a:pPr>
            <a:r>
              <a:rPr sz="1100" b="0">
                <a:solidFill>
                  <a:srgbClr val="D29A74"/>
                </a:solidFill>
                <a:latin typeface="Courier New"/>
              </a:rPr>
              <a:t>[Büro 1–4]</a:t>
            </a:r>
          </a:p>
        </p:txBody>
      </p:sp>
      <p:sp>
        <p:nvSpPr>
          <p:cNvPr id="9" name="TextBox 8"/>
          <p:cNvSpPr txBox="1"/>
          <p:nvPr/>
        </p:nvSpPr>
        <p:spPr>
          <a:xfrm>
            <a:off x="1920240" y="2103120"/>
            <a:ext cx="4105656" cy="365760"/>
          </a:xfrm>
          <a:prstGeom prst="rect">
            <a:avLst/>
          </a:prstGeom>
          <a:noFill/>
        </p:spPr>
        <p:txBody>
          <a:bodyPr wrap="square" lIns="0" rIns="0" tIns="0" bIns="0" anchor="t">
            <a:spAutoFit/>
          </a:bodyPr>
          <a:lstStyle/>
          <a:p>
            <a:pPr algn="l">
              <a:spcBef>
                <a:spcPts val="0"/>
              </a:spcBef>
              <a:spcAft>
                <a:spcPts val="300"/>
              </a:spcAft>
            </a:pPr>
            <a:r>
              <a:rPr sz="1400" b="0">
                <a:solidFill>
                  <a:srgbClr val="F4F1E6"/>
                </a:solidFill>
                <a:latin typeface="Arial"/>
                <a:hlinkClick r:id="rId2"/>
              </a:rPr>
              <a:t>Arata Isozaki &amp; Associates · Werkarchiv</a:t>
            </a:r>
          </a:p>
        </p:txBody>
      </p:sp>
      <p:sp>
        <p:nvSpPr>
          <p:cNvPr id="10" name="TextBox 9"/>
          <p:cNvSpPr txBox="1"/>
          <p:nvPr/>
        </p:nvSpPr>
        <p:spPr>
          <a:xfrm>
            <a:off x="502920" y="2670048"/>
            <a:ext cx="1517904" cy="256032"/>
          </a:xfrm>
          <a:prstGeom prst="rect">
            <a:avLst/>
          </a:prstGeom>
          <a:noFill/>
        </p:spPr>
        <p:txBody>
          <a:bodyPr wrap="square" lIns="0" rIns="0" tIns="0" bIns="0" anchor="t">
            <a:spAutoFit/>
          </a:bodyPr>
          <a:lstStyle/>
          <a:p>
            <a:pPr algn="l">
              <a:spcBef>
                <a:spcPts val="0"/>
              </a:spcBef>
              <a:spcAft>
                <a:spcPts val="300"/>
              </a:spcAft>
            </a:pPr>
            <a:r>
              <a:rPr sz="1100" b="0">
                <a:solidFill>
                  <a:srgbClr val="D29A74"/>
                </a:solidFill>
                <a:latin typeface="Courier New"/>
              </a:rPr>
              <a:t>[BCS 5]</a:t>
            </a:r>
          </a:p>
        </p:txBody>
      </p:sp>
      <p:sp>
        <p:nvSpPr>
          <p:cNvPr id="11" name="TextBox 10"/>
          <p:cNvSpPr txBox="1"/>
          <p:nvPr/>
        </p:nvSpPr>
        <p:spPr>
          <a:xfrm>
            <a:off x="1920240" y="2670048"/>
            <a:ext cx="4105656" cy="365760"/>
          </a:xfrm>
          <a:prstGeom prst="rect">
            <a:avLst/>
          </a:prstGeom>
          <a:noFill/>
        </p:spPr>
        <p:txBody>
          <a:bodyPr wrap="square" lIns="0" rIns="0" tIns="0" bIns="0" anchor="t">
            <a:spAutoFit/>
          </a:bodyPr>
          <a:lstStyle/>
          <a:p>
            <a:pPr algn="l">
              <a:spcBef>
                <a:spcPts val="0"/>
              </a:spcBef>
              <a:spcAft>
                <a:spcPts val="300"/>
              </a:spcAft>
            </a:pPr>
            <a:r>
              <a:rPr sz="1400" b="0">
                <a:solidFill>
                  <a:srgbClr val="F4F1E6"/>
                </a:solidFill>
                <a:latin typeface="Arial"/>
                <a:hlinkClick r:id="rId3"/>
              </a:rPr>
              <a:t>BCS-Dokumentation 1976 · Originalpläne</a:t>
            </a:r>
          </a:p>
        </p:txBody>
      </p:sp>
      <p:sp>
        <p:nvSpPr>
          <p:cNvPr id="12" name="TextBox 11"/>
          <p:cNvSpPr txBox="1"/>
          <p:nvPr/>
        </p:nvSpPr>
        <p:spPr>
          <a:xfrm>
            <a:off x="502920" y="3236976"/>
            <a:ext cx="1517904" cy="256032"/>
          </a:xfrm>
          <a:prstGeom prst="rect">
            <a:avLst/>
          </a:prstGeom>
          <a:noFill/>
        </p:spPr>
        <p:txBody>
          <a:bodyPr wrap="square" lIns="0" rIns="0" tIns="0" bIns="0" anchor="t">
            <a:spAutoFit/>
          </a:bodyPr>
          <a:lstStyle/>
          <a:p>
            <a:pPr algn="l">
              <a:spcBef>
                <a:spcPts val="0"/>
              </a:spcBef>
              <a:spcAft>
                <a:spcPts val="300"/>
              </a:spcAft>
            </a:pPr>
            <a:r>
              <a:rPr sz="1100" b="0">
                <a:solidFill>
                  <a:srgbClr val="D29A74"/>
                </a:solidFill>
                <a:latin typeface="Courier New"/>
              </a:rPr>
              <a:t>[Okumura 6]</a:t>
            </a:r>
          </a:p>
        </p:txBody>
      </p:sp>
      <p:sp>
        <p:nvSpPr>
          <p:cNvPr id="13" name="TextBox 12"/>
          <p:cNvSpPr txBox="1"/>
          <p:nvPr/>
        </p:nvSpPr>
        <p:spPr>
          <a:xfrm>
            <a:off x="1920240" y="3236976"/>
            <a:ext cx="4105656" cy="365760"/>
          </a:xfrm>
          <a:prstGeom prst="rect">
            <a:avLst/>
          </a:prstGeom>
          <a:noFill/>
        </p:spPr>
        <p:txBody>
          <a:bodyPr wrap="square" lIns="0" rIns="0" tIns="0" bIns="0" anchor="t">
            <a:spAutoFit/>
          </a:bodyPr>
          <a:lstStyle/>
          <a:p>
            <a:pPr algn="l">
              <a:spcBef>
                <a:spcPts val="0"/>
              </a:spcBef>
              <a:spcAft>
                <a:spcPts val="300"/>
              </a:spcAft>
            </a:pPr>
            <a:r>
              <a:rPr sz="1400" b="0">
                <a:solidFill>
                  <a:srgbClr val="F4F1E6"/>
                </a:solidFill>
                <a:latin typeface="Arial"/>
                <a:hlinkClick r:id="rId4"/>
              </a:rPr>
              <a:t>Projektarchiv des Bauunternehmens</a:t>
            </a:r>
          </a:p>
        </p:txBody>
      </p:sp>
      <p:sp>
        <p:nvSpPr>
          <p:cNvPr id="14" name="TextBox 13"/>
          <p:cNvSpPr txBox="1"/>
          <p:nvPr/>
        </p:nvSpPr>
        <p:spPr>
          <a:xfrm>
            <a:off x="502920" y="3803904"/>
            <a:ext cx="1517904" cy="256032"/>
          </a:xfrm>
          <a:prstGeom prst="rect">
            <a:avLst/>
          </a:prstGeom>
          <a:noFill/>
        </p:spPr>
        <p:txBody>
          <a:bodyPr wrap="square" lIns="0" rIns="0" tIns="0" bIns="0" anchor="t">
            <a:spAutoFit/>
          </a:bodyPr>
          <a:lstStyle/>
          <a:p>
            <a:pPr algn="l">
              <a:spcBef>
                <a:spcPts val="0"/>
              </a:spcBef>
              <a:spcAft>
                <a:spcPts val="300"/>
              </a:spcAft>
            </a:pPr>
            <a:r>
              <a:rPr sz="1100" b="0">
                <a:solidFill>
                  <a:srgbClr val="D29A74"/>
                </a:solidFill>
                <a:latin typeface="Courier New"/>
              </a:rPr>
              <a:t>[a+u 7]</a:t>
            </a:r>
          </a:p>
        </p:txBody>
      </p:sp>
      <p:sp>
        <p:nvSpPr>
          <p:cNvPr id="15" name="TextBox 14"/>
          <p:cNvSpPr txBox="1"/>
          <p:nvPr/>
        </p:nvSpPr>
        <p:spPr>
          <a:xfrm>
            <a:off x="1920240" y="3803904"/>
            <a:ext cx="4105656" cy="365760"/>
          </a:xfrm>
          <a:prstGeom prst="rect">
            <a:avLst/>
          </a:prstGeom>
          <a:noFill/>
        </p:spPr>
        <p:txBody>
          <a:bodyPr wrap="square" lIns="0" rIns="0" tIns="0" bIns="0" anchor="t">
            <a:spAutoFit/>
          </a:bodyPr>
          <a:lstStyle/>
          <a:p>
            <a:pPr algn="l">
              <a:spcBef>
                <a:spcPts val="0"/>
              </a:spcBef>
              <a:spcAft>
                <a:spcPts val="300"/>
              </a:spcAft>
            </a:pPr>
            <a:r>
              <a:rPr sz="1400" b="0">
                <a:solidFill>
                  <a:srgbClr val="F4F1E6"/>
                </a:solidFill>
                <a:latin typeface="Arial"/>
                <a:hlinkClick r:id="rId5"/>
              </a:rPr>
              <a:t>2020:08 · Practice and Theory</a:t>
            </a:r>
          </a:p>
        </p:txBody>
      </p:sp>
      <p:sp>
        <p:nvSpPr>
          <p:cNvPr id="16" name="TextBox 15"/>
          <p:cNvSpPr txBox="1"/>
          <p:nvPr/>
        </p:nvSpPr>
        <p:spPr>
          <a:xfrm>
            <a:off x="502920" y="4370831"/>
            <a:ext cx="1517904" cy="256032"/>
          </a:xfrm>
          <a:prstGeom prst="rect">
            <a:avLst/>
          </a:prstGeom>
          <a:noFill/>
        </p:spPr>
        <p:txBody>
          <a:bodyPr wrap="square" lIns="0" rIns="0" tIns="0" bIns="0" anchor="t">
            <a:spAutoFit/>
          </a:bodyPr>
          <a:lstStyle/>
          <a:p>
            <a:pPr algn="l">
              <a:spcBef>
                <a:spcPts val="0"/>
              </a:spcBef>
              <a:spcAft>
                <a:spcPts val="300"/>
              </a:spcAft>
            </a:pPr>
            <a:r>
              <a:rPr sz="1100" b="0">
                <a:solidFill>
                  <a:srgbClr val="D29A74"/>
                </a:solidFill>
                <a:latin typeface="Courier New"/>
              </a:rPr>
              <a:t>[Stadt 8]</a:t>
            </a:r>
          </a:p>
        </p:txBody>
      </p:sp>
      <p:sp>
        <p:nvSpPr>
          <p:cNvPr id="17" name="TextBox 16"/>
          <p:cNvSpPr txBox="1"/>
          <p:nvPr/>
        </p:nvSpPr>
        <p:spPr>
          <a:xfrm>
            <a:off x="1920240" y="4370831"/>
            <a:ext cx="4105656" cy="365760"/>
          </a:xfrm>
          <a:prstGeom prst="rect">
            <a:avLst/>
          </a:prstGeom>
          <a:noFill/>
        </p:spPr>
        <p:txBody>
          <a:bodyPr wrap="square" lIns="0" rIns="0" tIns="0" bIns="0" anchor="t">
            <a:spAutoFit/>
          </a:bodyPr>
          <a:lstStyle/>
          <a:p>
            <a:pPr algn="l">
              <a:spcBef>
                <a:spcPts val="0"/>
              </a:spcBef>
              <a:spcAft>
                <a:spcPts val="300"/>
              </a:spcAft>
            </a:pPr>
            <a:r>
              <a:rPr sz="1400" b="0">
                <a:solidFill>
                  <a:srgbClr val="F4F1E6"/>
                </a:solidFill>
                <a:latin typeface="Arial"/>
                <a:hlinkClick r:id="rId6"/>
              </a:rPr>
              <a:t>Stadt Kitakyushu · Betreiberinformation</a:t>
            </a:r>
          </a:p>
        </p:txBody>
      </p:sp>
      <p:sp>
        <p:nvSpPr>
          <p:cNvPr id="18" name="TextBox 17"/>
          <p:cNvSpPr txBox="1"/>
          <p:nvPr/>
        </p:nvSpPr>
        <p:spPr>
          <a:xfrm>
            <a:off x="502920" y="4937760"/>
            <a:ext cx="1517904" cy="256032"/>
          </a:xfrm>
          <a:prstGeom prst="rect">
            <a:avLst/>
          </a:prstGeom>
          <a:noFill/>
        </p:spPr>
        <p:txBody>
          <a:bodyPr wrap="square" lIns="0" rIns="0" tIns="0" bIns="0" anchor="t">
            <a:spAutoFit/>
          </a:bodyPr>
          <a:lstStyle/>
          <a:p>
            <a:pPr algn="l">
              <a:spcBef>
                <a:spcPts val="0"/>
              </a:spcBef>
              <a:spcAft>
                <a:spcPts val="300"/>
              </a:spcAft>
            </a:pPr>
            <a:r>
              <a:rPr sz="1100" b="0">
                <a:solidFill>
                  <a:srgbClr val="D29A74"/>
                </a:solidFill>
                <a:latin typeface="Courier New"/>
              </a:rPr>
              <a:t>[Pritzker 9]</a:t>
            </a:r>
          </a:p>
        </p:txBody>
      </p:sp>
      <p:sp>
        <p:nvSpPr>
          <p:cNvPr id="19" name="TextBox 18"/>
          <p:cNvSpPr txBox="1"/>
          <p:nvPr/>
        </p:nvSpPr>
        <p:spPr>
          <a:xfrm>
            <a:off x="1920240" y="4937760"/>
            <a:ext cx="4105656" cy="365760"/>
          </a:xfrm>
          <a:prstGeom prst="rect">
            <a:avLst/>
          </a:prstGeom>
          <a:noFill/>
        </p:spPr>
        <p:txBody>
          <a:bodyPr wrap="square" lIns="0" rIns="0" tIns="0" bIns="0" anchor="t">
            <a:spAutoFit/>
          </a:bodyPr>
          <a:lstStyle/>
          <a:p>
            <a:pPr algn="l">
              <a:spcBef>
                <a:spcPts val="0"/>
              </a:spcBef>
              <a:spcAft>
                <a:spcPts val="300"/>
              </a:spcAft>
            </a:pPr>
            <a:r>
              <a:rPr sz="1400" b="0">
                <a:solidFill>
                  <a:srgbClr val="F4F1E6"/>
                </a:solidFill>
                <a:latin typeface="Arial"/>
                <a:hlinkClick r:id="rId7"/>
              </a:rPr>
              <a:t>Offizielle Biografie von Arata Isozaki</a:t>
            </a:r>
          </a:p>
        </p:txBody>
      </p:sp>
      <p:sp>
        <p:nvSpPr>
          <p:cNvPr id="20" name="TextBox 19"/>
          <p:cNvSpPr txBox="1"/>
          <p:nvPr/>
        </p:nvSpPr>
        <p:spPr>
          <a:xfrm>
            <a:off x="6464808" y="1472184"/>
            <a:ext cx="5221224" cy="402336"/>
          </a:xfrm>
          <a:prstGeom prst="rect">
            <a:avLst/>
          </a:prstGeom>
          <a:noFill/>
        </p:spPr>
        <p:txBody>
          <a:bodyPr wrap="square" lIns="0" rIns="0" tIns="0" bIns="0" anchor="t">
            <a:spAutoFit/>
          </a:bodyPr>
          <a:lstStyle/>
          <a:p>
            <a:pPr algn="l">
              <a:spcBef>
                <a:spcPts val="0"/>
              </a:spcBef>
              <a:spcAft>
                <a:spcPts val="300"/>
              </a:spcAft>
            </a:pPr>
            <a:r>
              <a:rPr sz="2400" b="0">
                <a:solidFill>
                  <a:srgbClr val="D29A74"/>
                </a:solidFill>
                <a:latin typeface="Georgia"/>
              </a:rPr>
              <a:t>Bildnachweise</a:t>
            </a:r>
          </a:p>
        </p:txBody>
      </p:sp>
      <p:sp>
        <p:nvSpPr>
          <p:cNvPr id="21" name="TextBox 20"/>
          <p:cNvSpPr txBox="1"/>
          <p:nvPr/>
        </p:nvSpPr>
        <p:spPr>
          <a:xfrm>
            <a:off x="6464808" y="2121408"/>
            <a:ext cx="5221224" cy="256032"/>
          </a:xfrm>
          <a:prstGeom prst="rect">
            <a:avLst/>
          </a:prstGeom>
          <a:noFill/>
        </p:spPr>
        <p:txBody>
          <a:bodyPr wrap="square" lIns="0" rIns="0" tIns="0" bIns="0" anchor="t">
            <a:spAutoFit/>
          </a:bodyPr>
          <a:lstStyle/>
          <a:p>
            <a:pPr algn="l">
              <a:spcBef>
                <a:spcPts val="0"/>
              </a:spcBef>
              <a:spcAft>
                <a:spcPts val="300"/>
              </a:spcAft>
            </a:pPr>
            <a:r>
              <a:rPr sz="1200" b="0">
                <a:solidFill>
                  <a:srgbClr val="D29A74"/>
                </a:solidFill>
                <a:latin typeface="Courier New"/>
              </a:rPr>
              <a:t>D01–D03</a:t>
            </a:r>
          </a:p>
        </p:txBody>
      </p:sp>
      <p:sp>
        <p:nvSpPr>
          <p:cNvPr id="22" name="TextBox 21"/>
          <p:cNvSpPr txBox="1"/>
          <p:nvPr/>
        </p:nvSpPr>
        <p:spPr>
          <a:xfrm>
            <a:off x="6464808" y="2423160"/>
            <a:ext cx="5221224" cy="356616"/>
          </a:xfrm>
          <a:prstGeom prst="rect">
            <a:avLst/>
          </a:prstGeom>
          <a:noFill/>
        </p:spPr>
        <p:txBody>
          <a:bodyPr wrap="square" lIns="0" rIns="0" tIns="0" bIns="0" anchor="t">
            <a:spAutoFit/>
          </a:bodyPr>
          <a:lstStyle/>
          <a:p>
            <a:pPr algn="l">
              <a:spcBef>
                <a:spcPts val="0"/>
              </a:spcBef>
              <a:spcAft>
                <a:spcPts val="300"/>
              </a:spcAft>
            </a:pPr>
            <a:r>
              <a:rPr sz="1400" b="0">
                <a:solidFill>
                  <a:srgbClr val="F4F1E6"/>
                </a:solidFill>
                <a:latin typeface="Arial"/>
              </a:rPr>
              <a:t>Arata Isozaki Atelier · BCS 1976</a:t>
            </a:r>
          </a:p>
        </p:txBody>
      </p:sp>
      <p:sp>
        <p:nvSpPr>
          <p:cNvPr id="23" name="TextBox 22"/>
          <p:cNvSpPr txBox="1"/>
          <p:nvPr/>
        </p:nvSpPr>
        <p:spPr>
          <a:xfrm>
            <a:off x="6464808" y="2834639"/>
            <a:ext cx="5221224" cy="256032"/>
          </a:xfrm>
          <a:prstGeom prst="rect">
            <a:avLst/>
          </a:prstGeom>
          <a:noFill/>
        </p:spPr>
        <p:txBody>
          <a:bodyPr wrap="square" lIns="0" rIns="0" tIns="0" bIns="0" anchor="t">
            <a:spAutoFit/>
          </a:bodyPr>
          <a:lstStyle/>
          <a:p>
            <a:pPr algn="l">
              <a:spcBef>
                <a:spcPts val="0"/>
              </a:spcBef>
              <a:spcAft>
                <a:spcPts val="300"/>
              </a:spcAft>
            </a:pPr>
            <a:r>
              <a:rPr sz="1200" b="0">
                <a:solidFill>
                  <a:srgbClr val="D29A74"/>
                </a:solidFill>
                <a:latin typeface="Courier New"/>
              </a:rPr>
              <a:t>D04</a:t>
            </a:r>
          </a:p>
        </p:txBody>
      </p:sp>
      <p:sp>
        <p:nvSpPr>
          <p:cNvPr id="24" name="TextBox 23"/>
          <p:cNvSpPr txBox="1"/>
          <p:nvPr/>
        </p:nvSpPr>
        <p:spPr>
          <a:xfrm>
            <a:off x="6464808" y="3136391"/>
            <a:ext cx="5221224" cy="356616"/>
          </a:xfrm>
          <a:prstGeom prst="rect">
            <a:avLst/>
          </a:prstGeom>
          <a:noFill/>
        </p:spPr>
        <p:txBody>
          <a:bodyPr wrap="square" lIns="0" rIns="0" tIns="0" bIns="0" anchor="t">
            <a:spAutoFit/>
          </a:bodyPr>
          <a:lstStyle/>
          <a:p>
            <a:pPr algn="l">
              <a:spcBef>
                <a:spcPts val="0"/>
              </a:spcBef>
              <a:spcAft>
                <a:spcPts val="300"/>
              </a:spcAft>
            </a:pPr>
            <a:r>
              <a:rPr sz="1400" b="0">
                <a:solidFill>
                  <a:srgbClr val="F4F1E6"/>
                </a:solidFill>
                <a:latin typeface="Arial"/>
              </a:rPr>
              <a:t>Büroarchiv · a+u 2020:08</a:t>
            </a:r>
          </a:p>
        </p:txBody>
      </p:sp>
      <p:sp>
        <p:nvSpPr>
          <p:cNvPr id="25" name="TextBox 24"/>
          <p:cNvSpPr txBox="1"/>
          <p:nvPr/>
        </p:nvSpPr>
        <p:spPr>
          <a:xfrm>
            <a:off x="6464808" y="3547872"/>
            <a:ext cx="5221224" cy="256032"/>
          </a:xfrm>
          <a:prstGeom prst="rect">
            <a:avLst/>
          </a:prstGeom>
          <a:noFill/>
        </p:spPr>
        <p:txBody>
          <a:bodyPr wrap="square" lIns="0" rIns="0" tIns="0" bIns="0" anchor="t">
            <a:spAutoFit/>
          </a:bodyPr>
          <a:lstStyle/>
          <a:p>
            <a:pPr algn="l">
              <a:spcBef>
                <a:spcPts val="0"/>
              </a:spcBef>
              <a:spcAft>
                <a:spcPts val="300"/>
              </a:spcAft>
            </a:pPr>
            <a:r>
              <a:rPr sz="1200" b="0">
                <a:solidFill>
                  <a:srgbClr val="D29A74"/>
                </a:solidFill>
                <a:latin typeface="Courier New"/>
              </a:rPr>
              <a:t>A01–A03</a:t>
            </a:r>
          </a:p>
        </p:txBody>
      </p:sp>
      <p:sp>
        <p:nvSpPr>
          <p:cNvPr id="26" name="TextBox 25"/>
          <p:cNvSpPr txBox="1"/>
          <p:nvPr/>
        </p:nvSpPr>
        <p:spPr>
          <a:xfrm>
            <a:off x="6464808" y="3849624"/>
            <a:ext cx="5221224" cy="356616"/>
          </a:xfrm>
          <a:prstGeom prst="rect">
            <a:avLst/>
          </a:prstGeom>
          <a:noFill/>
        </p:spPr>
        <p:txBody>
          <a:bodyPr wrap="square" lIns="0" rIns="0" tIns="0" bIns="0" anchor="t">
            <a:spAutoFit/>
          </a:bodyPr>
          <a:lstStyle/>
          <a:p>
            <a:pPr algn="l">
              <a:spcBef>
                <a:spcPts val="0"/>
              </a:spcBef>
              <a:spcAft>
                <a:spcPts val="300"/>
              </a:spcAft>
            </a:pPr>
            <a:r>
              <a:rPr sz="1400" b="0">
                <a:solidFill>
                  <a:srgbClr val="F4F1E6"/>
                </a:solidFill>
                <a:latin typeface="Arial"/>
              </a:rPr>
              <a:t>Okumura · Motive auch in BCS 1976</a:t>
            </a:r>
          </a:p>
        </p:txBody>
      </p:sp>
      <p:sp>
        <p:nvSpPr>
          <p:cNvPr id="27" name="TextBox 26"/>
          <p:cNvSpPr txBox="1"/>
          <p:nvPr/>
        </p:nvSpPr>
        <p:spPr>
          <a:xfrm>
            <a:off x="6464808" y="4261104"/>
            <a:ext cx="5221224" cy="256032"/>
          </a:xfrm>
          <a:prstGeom prst="rect">
            <a:avLst/>
          </a:prstGeom>
          <a:noFill/>
        </p:spPr>
        <p:txBody>
          <a:bodyPr wrap="square" lIns="0" rIns="0" tIns="0" bIns="0" anchor="t">
            <a:spAutoFit/>
          </a:bodyPr>
          <a:lstStyle/>
          <a:p>
            <a:pPr algn="l">
              <a:spcBef>
                <a:spcPts val="0"/>
              </a:spcBef>
              <a:spcAft>
                <a:spcPts val="300"/>
              </a:spcAft>
            </a:pPr>
            <a:r>
              <a:rPr sz="1200" b="0">
                <a:solidFill>
                  <a:srgbClr val="D29A74"/>
                </a:solidFill>
                <a:latin typeface="Courier New"/>
              </a:rPr>
              <a:t>P10</a:t>
            </a:r>
          </a:p>
        </p:txBody>
      </p:sp>
      <p:sp>
        <p:nvSpPr>
          <p:cNvPr id="28" name="TextBox 27"/>
          <p:cNvSpPr txBox="1"/>
          <p:nvPr/>
        </p:nvSpPr>
        <p:spPr>
          <a:xfrm>
            <a:off x="6464808" y="4562856"/>
            <a:ext cx="5221224" cy="356616"/>
          </a:xfrm>
          <a:prstGeom prst="rect">
            <a:avLst/>
          </a:prstGeom>
          <a:noFill/>
        </p:spPr>
        <p:txBody>
          <a:bodyPr wrap="square" lIns="0" rIns="0" tIns="0" bIns="0" anchor="t">
            <a:spAutoFit/>
          </a:bodyPr>
          <a:lstStyle/>
          <a:p>
            <a:pPr algn="l">
              <a:spcBef>
                <a:spcPts val="0"/>
              </a:spcBef>
              <a:spcAft>
                <a:spcPts val="300"/>
              </a:spcAft>
            </a:pPr>
            <a:r>
              <a:rPr sz="1400" b="0">
                <a:solidFill>
                  <a:srgbClr val="F4F1E6"/>
                </a:solidFill>
                <a:latin typeface="Arial"/>
              </a:rPr>
              <a:t>八幡鏡太郎 · Wikimedia Commons · CC BY 4.0</a:t>
            </a:r>
          </a:p>
        </p:txBody>
      </p:sp>
      <p:sp>
        <p:nvSpPr>
          <p:cNvPr id="29" name="TextBox 28"/>
          <p:cNvSpPr txBox="1"/>
          <p:nvPr/>
        </p:nvSpPr>
        <p:spPr>
          <a:xfrm>
            <a:off x="6464808" y="4974336"/>
            <a:ext cx="5221224" cy="256032"/>
          </a:xfrm>
          <a:prstGeom prst="rect">
            <a:avLst/>
          </a:prstGeom>
          <a:noFill/>
        </p:spPr>
        <p:txBody>
          <a:bodyPr wrap="square" lIns="0" rIns="0" tIns="0" bIns="0" anchor="t">
            <a:spAutoFit/>
          </a:bodyPr>
          <a:lstStyle/>
          <a:p>
            <a:pPr algn="l">
              <a:spcBef>
                <a:spcPts val="0"/>
              </a:spcBef>
              <a:spcAft>
                <a:spcPts val="300"/>
              </a:spcAft>
            </a:pPr>
            <a:r>
              <a:rPr sz="1200" b="0">
                <a:solidFill>
                  <a:srgbClr val="D29A74"/>
                </a:solidFill>
                <a:latin typeface="Courier New"/>
              </a:rPr>
              <a:t>U01–U08</a:t>
            </a:r>
          </a:p>
        </p:txBody>
      </p:sp>
      <p:sp>
        <p:nvSpPr>
          <p:cNvPr id="30" name="TextBox 29"/>
          <p:cNvSpPr txBox="1"/>
          <p:nvPr/>
        </p:nvSpPr>
        <p:spPr>
          <a:xfrm>
            <a:off x="6464808" y="5276088"/>
            <a:ext cx="5221224" cy="356616"/>
          </a:xfrm>
          <a:prstGeom prst="rect">
            <a:avLst/>
          </a:prstGeom>
          <a:noFill/>
        </p:spPr>
        <p:txBody>
          <a:bodyPr wrap="square" lIns="0" rIns="0" tIns="0" bIns="0" anchor="t">
            <a:spAutoFit/>
          </a:bodyPr>
          <a:lstStyle/>
          <a:p>
            <a:pPr algn="l">
              <a:spcBef>
                <a:spcPts val="0"/>
              </a:spcBef>
              <a:spcAft>
                <a:spcPts val="300"/>
              </a:spcAft>
            </a:pPr>
            <a:r>
              <a:rPr sz="1400" b="0">
                <a:solidFill>
                  <a:srgbClr val="F4F1E6"/>
                </a:solidFill>
                <a:latin typeface="Arial"/>
              </a:rPr>
              <a:t>Nutzerdateien · Urheber / Lizenz ungeklärt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29A74"/>
      </a:hlink>
      <a:folHlink>
        <a:srgbClr val="D29A7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29A74"/>
      </a:hlink>
      <a:folHlink>
        <a:srgbClr val="D29A7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Kitakyushu Central Library</dc:title>
  <dc:subject>Objektanalyse · Arata Isozaki</dc:subject>
  <dc:creator>Luca Ingui</dc:creator>
  <cp:keywords>Kitakyushu, Arata Isozaki, Architektur, Bibliothek, Originalpläne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